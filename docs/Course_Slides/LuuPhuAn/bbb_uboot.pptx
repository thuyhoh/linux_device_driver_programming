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handoutMasterIdLst>
    <p:handoutMasterId r:id="rId26"/>
  </p:handoutMasterIdLst>
  <p:sldIdLst>
    <p:sldId id="256" r:id="rId2"/>
    <p:sldId id="287" r:id="rId3"/>
    <p:sldId id="288" r:id="rId4"/>
    <p:sldId id="290" r:id="rId5"/>
    <p:sldId id="289" r:id="rId6"/>
    <p:sldId id="302" r:id="rId7"/>
    <p:sldId id="291" r:id="rId8"/>
    <p:sldId id="293" r:id="rId9"/>
    <p:sldId id="304" r:id="rId10"/>
    <p:sldId id="292" r:id="rId11"/>
    <p:sldId id="298" r:id="rId12"/>
    <p:sldId id="303" r:id="rId13"/>
    <p:sldId id="306" r:id="rId14"/>
    <p:sldId id="307" r:id="rId15"/>
    <p:sldId id="295" r:id="rId16"/>
    <p:sldId id="296" r:id="rId17"/>
    <p:sldId id="297" r:id="rId18"/>
    <p:sldId id="305" r:id="rId19"/>
    <p:sldId id="294" r:id="rId20"/>
    <p:sldId id="299" r:id="rId21"/>
    <p:sldId id="300" r:id="rId22"/>
    <p:sldId id="301" r:id="rId23"/>
    <p:sldId id="258" r:id="rId2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1763" autoAdjust="0"/>
  </p:normalViewPr>
  <p:slideViewPr>
    <p:cSldViewPr snapToGrid="0" snapToObjects="1" showGuides="1">
      <p:cViewPr varScale="1">
        <p:scale>
          <a:sx n="138" d="100"/>
          <a:sy n="138" d="100"/>
        </p:scale>
        <p:origin x="834" y="13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DF6B2F8-E390-BD4F-9ACD-789C35D23CE3}" type="datetimeFigureOut">
              <a:rPr lang="en-US" smtClean="0"/>
              <a:t>4/22/2023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D0A0C1-BF67-B440-B7AD-B68AAB032928}" type="slidenum">
              <a:rPr lang="en-US" smtClean="0"/>
              <a:t>‹#›</a:t>
            </a:fld>
            <a:endParaRPr lang="en-US"/>
          </a:p>
        </p:txBody>
      </p:sp>
    </p:spTree>
    <p:extLst>
      <p:ext uri="{BB962C8B-B14F-4D97-AF65-F5344CB8AC3E}">
        <p14:creationId xmlns:p14="http://schemas.microsoft.com/office/powerpoint/2010/main" val="5220041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FF8F81-D7B9-424E-B993-6D09B3871A4E}" type="datetimeFigureOut">
              <a:rPr lang="en-US" smtClean="0"/>
              <a:t>4/22/2023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3067B3-3AE6-DD4A-9E3D-C999AB3971A1}" type="slidenum">
              <a:rPr lang="en-US" smtClean="0"/>
              <a:t>‹#›</a:t>
            </a:fld>
            <a:endParaRPr lang="en-US"/>
          </a:p>
        </p:txBody>
      </p:sp>
    </p:spTree>
    <p:extLst>
      <p:ext uri="{BB962C8B-B14F-4D97-AF65-F5344CB8AC3E}">
        <p14:creationId xmlns:p14="http://schemas.microsoft.com/office/powerpoint/2010/main" val="86950464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a:t>
            </a:fld>
            <a:endParaRPr lang="en-US"/>
          </a:p>
        </p:txBody>
      </p:sp>
    </p:spTree>
    <p:extLst>
      <p:ext uri="{BB962C8B-B14F-4D97-AF65-F5344CB8AC3E}">
        <p14:creationId xmlns:p14="http://schemas.microsoft.com/office/powerpoint/2010/main" val="3917617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3067B3-3AE6-DD4A-9E3D-C999AB3971A1}" type="slidenum">
              <a:rPr lang="en-US" smtClean="0"/>
              <a:t>23</a:t>
            </a:fld>
            <a:endParaRPr lang="en-US"/>
          </a:p>
        </p:txBody>
      </p:sp>
    </p:spTree>
    <p:extLst>
      <p:ext uri="{BB962C8B-B14F-4D97-AF65-F5344CB8AC3E}">
        <p14:creationId xmlns:p14="http://schemas.microsoft.com/office/powerpoint/2010/main" val="6398962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39" y="0"/>
            <a:ext cx="9124122" cy="5143500"/>
          </a:xfrm>
          <a:prstGeom prst="rect">
            <a:avLst/>
          </a:prstGeom>
        </p:spPr>
      </p:pic>
      <p:sp>
        <p:nvSpPr>
          <p:cNvPr id="2" name="Title 1"/>
          <p:cNvSpPr>
            <a:spLocks noGrp="1"/>
          </p:cNvSpPr>
          <p:nvPr>
            <p:ph type="ctrTitle"/>
          </p:nvPr>
        </p:nvSpPr>
        <p:spPr>
          <a:xfrm>
            <a:off x="584200" y="1743789"/>
            <a:ext cx="5334000" cy="678021"/>
          </a:xfrm>
        </p:spPr>
        <p:txBody>
          <a:bodyPr>
            <a:noAutofit/>
          </a:bodyPr>
          <a:lstStyle>
            <a:lvl1pPr algn="ctr">
              <a:defRPr sz="3600">
                <a:solidFill>
                  <a:srgbClr val="FF6600"/>
                </a:solidFill>
              </a:defRPr>
            </a:lvl1pPr>
          </a:lstStyle>
          <a:p>
            <a:r>
              <a:rPr lang="en-US" dirty="0"/>
              <a:t>Click to edit Master title style</a:t>
            </a:r>
          </a:p>
        </p:txBody>
      </p:sp>
      <p:sp>
        <p:nvSpPr>
          <p:cNvPr id="3" name="Subtitle 2"/>
          <p:cNvSpPr>
            <a:spLocks noGrp="1"/>
          </p:cNvSpPr>
          <p:nvPr>
            <p:ph type="subTitle" idx="1"/>
          </p:nvPr>
        </p:nvSpPr>
        <p:spPr>
          <a:xfrm>
            <a:off x="584200" y="2571750"/>
            <a:ext cx="5334000" cy="434975"/>
          </a:xfrm>
        </p:spPr>
        <p:txBody>
          <a:bodyPr>
            <a:normAutofit/>
          </a:bodyPr>
          <a:lstStyle>
            <a:lvl1pPr marL="0" indent="0" algn="ctr">
              <a:buNone/>
              <a:defRPr sz="2000" i="1">
                <a:solidFill>
                  <a:srgbClr val="99CC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7F3FBE28-58BC-4486-9A8E-6C1F0E326EAB}" type="datetime1">
              <a:rPr lang="en-US" smtClean="0"/>
              <a:t>4/22/2023</a:t>
            </a:fld>
            <a:endParaRPr lang="en-US"/>
          </a:p>
        </p:txBody>
      </p:sp>
      <p:sp>
        <p:nvSpPr>
          <p:cNvPr id="5" name="Footer Placeholder 4"/>
          <p:cNvSpPr>
            <a:spLocks noGrp="1"/>
          </p:cNvSpPr>
          <p:nvPr>
            <p:ph type="ftr" sz="quarter" idx="11"/>
          </p:nvPr>
        </p:nvSpPr>
        <p:spPr>
          <a:xfrm>
            <a:off x="1868557" y="4767263"/>
            <a:ext cx="4489063" cy="273844"/>
          </a:xfrm>
        </p:spPr>
        <p:txBody>
          <a:bodyPr/>
          <a:lstStyle/>
          <a:p>
            <a:r>
              <a:rPr lang="en-US"/>
              <a:t>©FPT SOFTWARE - Corporate Training Center - Internal Use</a:t>
            </a:r>
            <a:endParaRPr lang="en-US" dirty="0"/>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813760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6706925" cy="644057"/>
          </a:xfrm>
        </p:spPr>
        <p:txBody>
          <a:bodyPr/>
          <a:lstStyle>
            <a:lvl1pPr>
              <a:defRPr b="1"/>
            </a:lvl1pPr>
          </a:lstStyle>
          <a:p>
            <a:r>
              <a:rPr lang="en-US" dirty="0"/>
              <a:t>Click to edit Master title style</a:t>
            </a:r>
          </a:p>
        </p:txBody>
      </p:sp>
      <p:sp>
        <p:nvSpPr>
          <p:cNvPr id="3" name="Content Placeholder 2"/>
          <p:cNvSpPr>
            <a:spLocks noGrp="1"/>
          </p:cNvSpPr>
          <p:nvPr>
            <p:ph idx="1"/>
          </p:nvPr>
        </p:nvSpPr>
        <p:spPr>
          <a:xfrm>
            <a:off x="457200" y="870857"/>
            <a:ext cx="8229600" cy="372376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03BB6E5-7AA4-4C0D-BF97-BDC69083DBC9}" type="datetime1">
              <a:rPr lang="en-US" smtClean="0"/>
              <a:t>4/22/2023</a:t>
            </a:fld>
            <a:endParaRPr lang="en-US"/>
          </a:p>
        </p:txBody>
      </p:sp>
      <p:sp>
        <p:nvSpPr>
          <p:cNvPr id="5" name="Footer Placeholder 4"/>
          <p:cNvSpPr>
            <a:spLocks noGrp="1"/>
          </p:cNvSpPr>
          <p:nvPr>
            <p:ph type="ftr" sz="quarter" idx="11"/>
          </p:nvPr>
        </p:nvSpPr>
        <p:spPr/>
        <p:txBody>
          <a:bodyPr/>
          <a:lstStyle/>
          <a:p>
            <a:r>
              <a:rPr lang="en-US"/>
              <a:t>©FPT SOFTWARE - Corporate Training Center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226263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5BBB4B-2F94-4F11-9AD4-28D0EBD25231}" type="datetime1">
              <a:rPr lang="en-US" smtClean="0"/>
              <a:t>4/22/2023</a:t>
            </a:fld>
            <a:endParaRPr lang="en-US"/>
          </a:p>
        </p:txBody>
      </p:sp>
      <p:sp>
        <p:nvSpPr>
          <p:cNvPr id="5" name="Footer Placeholder 4"/>
          <p:cNvSpPr>
            <a:spLocks noGrp="1"/>
          </p:cNvSpPr>
          <p:nvPr>
            <p:ph type="ftr" sz="quarter" idx="11"/>
          </p:nvPr>
        </p:nvSpPr>
        <p:spPr/>
        <p:txBody>
          <a:bodyPr/>
          <a:lstStyle/>
          <a:p>
            <a:r>
              <a:rPr lang="en-US"/>
              <a:t>©FPT SOFTWARE - Corporate Training Center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019322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9A5478-161F-4B28-93E5-DE9BF6B2D5E2}" type="datetime1">
              <a:rPr lang="en-US" smtClean="0"/>
              <a:t>4/22/2023</a:t>
            </a:fld>
            <a:endParaRPr lang="en-US"/>
          </a:p>
        </p:txBody>
      </p:sp>
      <p:sp>
        <p:nvSpPr>
          <p:cNvPr id="6" name="Footer Placeholder 5"/>
          <p:cNvSpPr>
            <a:spLocks noGrp="1"/>
          </p:cNvSpPr>
          <p:nvPr>
            <p:ph type="ftr" sz="quarter" idx="11"/>
          </p:nvPr>
        </p:nvSpPr>
        <p:spPr/>
        <p:txBody>
          <a:bodyPr/>
          <a:lstStyle/>
          <a:p>
            <a:r>
              <a:rPr lang="en-US"/>
              <a:t>©FPT SOFTWARE - Corporate Training Center - Internal Use</a:t>
            </a:r>
          </a:p>
        </p:txBody>
      </p:sp>
      <p:sp>
        <p:nvSpPr>
          <p:cNvPr id="7" name="Slide Number Placeholder 6"/>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018449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27222"/>
            <a:ext cx="6611510" cy="54068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0E38055-F1C9-4AC4-B9E3-476EF82AD4CC}" type="datetime1">
              <a:rPr lang="en-US" smtClean="0"/>
              <a:t>4/22/2023</a:t>
            </a:fld>
            <a:endParaRPr lang="en-US"/>
          </a:p>
        </p:txBody>
      </p:sp>
      <p:sp>
        <p:nvSpPr>
          <p:cNvPr id="8" name="Footer Placeholder 7"/>
          <p:cNvSpPr>
            <a:spLocks noGrp="1"/>
          </p:cNvSpPr>
          <p:nvPr>
            <p:ph type="ftr" sz="quarter" idx="11"/>
          </p:nvPr>
        </p:nvSpPr>
        <p:spPr/>
        <p:txBody>
          <a:bodyPr/>
          <a:lstStyle/>
          <a:p>
            <a:r>
              <a:rPr lang="en-US"/>
              <a:t>©FPT SOFTWARE - Corporate Training Center - Internal Use</a:t>
            </a:r>
          </a:p>
        </p:txBody>
      </p:sp>
      <p:sp>
        <p:nvSpPr>
          <p:cNvPr id="9" name="Slide Number Placeholder 8"/>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3710657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39D9E8B6-A1D4-4191-8D54-A8260B6A1972}" type="datetime1">
              <a:rPr lang="en-US" smtClean="0"/>
              <a:t>4/22/2023</a:t>
            </a:fld>
            <a:endParaRPr lang="en-US"/>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56067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4C1980-AF69-46D2-A9FE-14E6E6C939BE}" type="datetime1">
              <a:rPr lang="en-US" smtClean="0"/>
              <a:t>4/22/2023</a:t>
            </a:fld>
            <a:endParaRPr lang="en-US"/>
          </a:p>
        </p:txBody>
      </p:sp>
      <p:sp>
        <p:nvSpPr>
          <p:cNvPr id="3" name="Footer Placeholder 2"/>
          <p:cNvSpPr>
            <a:spLocks noGrp="1"/>
          </p:cNvSpPr>
          <p:nvPr>
            <p:ph type="ftr" sz="quarter" idx="11"/>
          </p:nvPr>
        </p:nvSpPr>
        <p:spPr/>
        <p:txBody>
          <a:bodyPr/>
          <a:lstStyle/>
          <a:p>
            <a:r>
              <a:rPr lang="en-US"/>
              <a:t>©FPT SOFTWARE - Corporate Training Center - Internal Use</a:t>
            </a:r>
          </a:p>
        </p:txBody>
      </p:sp>
      <p:sp>
        <p:nvSpPr>
          <p:cNvPr id="4" name="Slide Number Placeholder 3"/>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78407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076325"/>
            <a:ext cx="5111750" cy="3518298"/>
          </a:xfrm>
        </p:spPr>
        <p:txBody>
          <a:bodyPr/>
          <a:lstStyle>
            <a:lvl1pPr>
              <a:defRPr sz="32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000">
                <a:latin typeface="Times New Roman" panose="02020603050405020304" pitchFamily="18" charset="0"/>
                <a:cs typeface="Times New Roman" panose="02020603050405020304" pitchFamily="18" charset="0"/>
              </a:defRPr>
            </a:lvl4pPr>
            <a:lvl5pPr>
              <a:defRPr sz="2000">
                <a:latin typeface="Times New Roman" panose="02020603050405020304" pitchFamily="18" charset="0"/>
                <a:cs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AA33C03-0194-466F-B287-AA772F5566B9}" type="datetime1">
              <a:rPr lang="en-US" smtClean="0"/>
              <a:t>4/22/2023</a:t>
            </a:fld>
            <a:endParaRPr lang="en-US"/>
          </a:p>
        </p:txBody>
      </p:sp>
      <p:sp>
        <p:nvSpPr>
          <p:cNvPr id="6" name="Footer Placeholder 5"/>
          <p:cNvSpPr>
            <a:spLocks noGrp="1"/>
          </p:cNvSpPr>
          <p:nvPr>
            <p:ph type="ftr" sz="quarter" idx="11"/>
          </p:nvPr>
        </p:nvSpPr>
        <p:spPr/>
        <p:txBody>
          <a:bodyPr/>
          <a:lstStyle/>
          <a:p>
            <a:r>
              <a:rPr lang="en-US"/>
              <a:t>©FPT SOFTWARE - Corporate Training Center - Internal Use</a:t>
            </a:r>
          </a:p>
        </p:txBody>
      </p:sp>
      <p:sp>
        <p:nvSpPr>
          <p:cNvPr id="7" name="Slide Number Placeholder 6"/>
          <p:cNvSpPr>
            <a:spLocks noGrp="1"/>
          </p:cNvSpPr>
          <p:nvPr>
            <p:ph type="sldNum" sz="quarter" idx="12"/>
          </p:nvPr>
        </p:nvSpPr>
        <p:spPr/>
        <p:txBody>
          <a:bodyPr/>
          <a:lstStyle/>
          <a:p>
            <a:fld id="{E3B08AF7-4237-6949-8335-F63F47C2C8CC}" type="slidenum">
              <a:rPr lang="en-US" smtClean="0"/>
              <a:t>‹#›</a:t>
            </a:fld>
            <a:endParaRPr lang="en-US"/>
          </a:p>
        </p:txBody>
      </p:sp>
      <p:sp>
        <p:nvSpPr>
          <p:cNvPr id="8" name="Title 1"/>
          <p:cNvSpPr>
            <a:spLocks noGrp="1"/>
          </p:cNvSpPr>
          <p:nvPr>
            <p:ph type="title"/>
          </p:nvPr>
        </p:nvSpPr>
        <p:spPr>
          <a:xfrm>
            <a:off x="457200" y="0"/>
            <a:ext cx="6706925" cy="644057"/>
          </a:xfrm>
        </p:spPr>
        <p:txBody>
          <a:bodyPr/>
          <a:lstStyle/>
          <a:p>
            <a:r>
              <a:rPr lang="en-US" dirty="0"/>
              <a:t>Click to edit Master title style</a:t>
            </a:r>
          </a:p>
        </p:txBody>
      </p:sp>
    </p:spTree>
    <p:extLst>
      <p:ext uri="{BB962C8B-B14F-4D97-AF65-F5344CB8AC3E}">
        <p14:creationId xmlns:p14="http://schemas.microsoft.com/office/powerpoint/2010/main" val="3759380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930959"/>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790090"/>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p:cNvSpPr>
            <a:spLocks noGrp="1"/>
          </p:cNvSpPr>
          <p:nvPr>
            <p:ph type="dt" sz="half" idx="10"/>
          </p:nvPr>
        </p:nvSpPr>
        <p:spPr/>
        <p:txBody>
          <a:bodyPr/>
          <a:lstStyle/>
          <a:p>
            <a:fld id="{D31FF56F-D32E-44F3-A5D6-9F4533FAF9BD}" type="datetime1">
              <a:rPr lang="en-US" smtClean="0"/>
              <a:t>4/22/2023</a:t>
            </a:fld>
            <a:endParaRPr lang="en-US"/>
          </a:p>
        </p:txBody>
      </p:sp>
      <p:sp>
        <p:nvSpPr>
          <p:cNvPr id="6" name="Footer Placeholder 5"/>
          <p:cNvSpPr>
            <a:spLocks noGrp="1"/>
          </p:cNvSpPr>
          <p:nvPr>
            <p:ph type="ftr" sz="quarter" idx="11"/>
          </p:nvPr>
        </p:nvSpPr>
        <p:spPr/>
        <p:txBody>
          <a:bodyPr/>
          <a:lstStyle/>
          <a:p>
            <a:r>
              <a:rPr lang="en-US"/>
              <a:t>©FPT SOFTWARE - Corporate Training Center - Internal Use</a:t>
            </a:r>
          </a:p>
        </p:txBody>
      </p:sp>
      <p:sp>
        <p:nvSpPr>
          <p:cNvPr id="7" name="Slide Number Placeholder 6"/>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367173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5B28C3-1882-4E84-9C82-23BA74B52008}" type="datetime1">
              <a:rPr lang="en-US" smtClean="0"/>
              <a:t>4/22/2023</a:t>
            </a:fld>
            <a:endParaRPr lang="en-US"/>
          </a:p>
        </p:txBody>
      </p:sp>
      <p:sp>
        <p:nvSpPr>
          <p:cNvPr id="5" name="Footer Placeholder 4"/>
          <p:cNvSpPr>
            <a:spLocks noGrp="1"/>
          </p:cNvSpPr>
          <p:nvPr>
            <p:ph type="ftr" sz="quarter" idx="11"/>
          </p:nvPr>
        </p:nvSpPr>
        <p:spPr/>
        <p:txBody>
          <a:bodyPr/>
          <a:lstStyle/>
          <a:p>
            <a:r>
              <a:rPr lang="en-US"/>
              <a:t>©FPT SOFTWARE - Corporate Training Center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077462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5B1917-4DD8-41D3-93A0-974B9DFBBCBF}" type="datetime1">
              <a:rPr lang="en-US" smtClean="0"/>
              <a:t>4/22/2023</a:t>
            </a:fld>
            <a:endParaRPr lang="en-US"/>
          </a:p>
        </p:txBody>
      </p:sp>
      <p:sp>
        <p:nvSpPr>
          <p:cNvPr id="5" name="Footer Placeholder 4"/>
          <p:cNvSpPr>
            <a:spLocks noGrp="1"/>
          </p:cNvSpPr>
          <p:nvPr>
            <p:ph type="ftr" sz="quarter" idx="11"/>
          </p:nvPr>
        </p:nvSpPr>
        <p:spPr/>
        <p:txBody>
          <a:bodyPr/>
          <a:lstStyle/>
          <a:p>
            <a:r>
              <a:rPr lang="en-US"/>
              <a:t>©FPT SOFTWARE - Corporate Training Center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421728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939" y="0"/>
            <a:ext cx="9124122" cy="5143500"/>
          </a:xfrm>
          <a:prstGeom prst="rect">
            <a:avLst/>
          </a:prstGeom>
        </p:spPr>
      </p:pic>
      <p:sp>
        <p:nvSpPr>
          <p:cNvPr id="2" name="Title Placeholder 1"/>
          <p:cNvSpPr>
            <a:spLocks noGrp="1"/>
          </p:cNvSpPr>
          <p:nvPr>
            <p:ph type="title"/>
          </p:nvPr>
        </p:nvSpPr>
        <p:spPr>
          <a:xfrm>
            <a:off x="457200" y="0"/>
            <a:ext cx="6706925" cy="644057"/>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118872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0289C729-EC9D-4075-8A00-DCB3B3221814}" type="datetime1">
              <a:rPr lang="en-US" smtClean="0"/>
              <a:t>4/22/2023</a:t>
            </a:fld>
            <a:endParaRPr lang="en-US"/>
          </a:p>
        </p:txBody>
      </p:sp>
      <p:sp>
        <p:nvSpPr>
          <p:cNvPr id="5" name="Footer Placeholder 4"/>
          <p:cNvSpPr>
            <a:spLocks noGrp="1"/>
          </p:cNvSpPr>
          <p:nvPr>
            <p:ph type="ftr" sz="quarter" idx="3"/>
          </p:nvPr>
        </p:nvSpPr>
        <p:spPr>
          <a:xfrm>
            <a:off x="2409245" y="4767263"/>
            <a:ext cx="3948375" cy="273844"/>
          </a:xfrm>
          <a:prstGeom prst="rect">
            <a:avLst/>
          </a:prstGeom>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1200">
                <a:solidFill>
                  <a:schemeClr val="tx1">
                    <a:tint val="75000"/>
                  </a:schemeClr>
                </a:solidFill>
              </a:defRPr>
            </a:lvl1pPr>
          </a:lstStyle>
          <a:p>
            <a:r>
              <a:rPr lang="en-US"/>
              <a:t>©FPT SOFTWARE - Corporate Training Center - Internal Use</a:t>
            </a:r>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3B08AF7-4237-6949-8335-F63F47C2C8CC}" type="slidenum">
              <a:rPr lang="en-US" smtClean="0"/>
              <a:t>‹#›</a:t>
            </a:fld>
            <a:endParaRPr lang="en-US"/>
          </a:p>
        </p:txBody>
      </p:sp>
    </p:spTree>
    <p:extLst>
      <p:ext uri="{BB962C8B-B14F-4D97-AF65-F5344CB8AC3E}">
        <p14:creationId xmlns:p14="http://schemas.microsoft.com/office/powerpoint/2010/main" val="2986712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457200" rtl="0" eaLnBrk="1" latinLnBrk="0" hangingPunct="1">
        <a:spcBef>
          <a:spcPct val="0"/>
        </a:spcBef>
        <a:buNone/>
        <a:defRPr sz="3600" b="1"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err="1"/>
              <a:t>Uboot</a:t>
            </a:r>
            <a:r>
              <a:rPr lang="en-US"/>
              <a:t> source code</a:t>
            </a:r>
            <a:endParaRPr lang="en-US" dirty="0"/>
          </a:p>
        </p:txBody>
      </p:sp>
      <p:sp>
        <p:nvSpPr>
          <p:cNvPr id="3" name="Subtitle 2"/>
          <p:cNvSpPr>
            <a:spLocks noGrp="1"/>
          </p:cNvSpPr>
          <p:nvPr>
            <p:ph type="subTitle" idx="1"/>
          </p:nvPr>
        </p:nvSpPr>
        <p:spPr/>
        <p:txBody>
          <a:bodyPr/>
          <a:lstStyle/>
          <a:p>
            <a:r>
              <a:rPr lang="en-US" dirty="0" err="1"/>
              <a:t>Giảng</a:t>
            </a:r>
            <a:r>
              <a:rPr lang="en-US" dirty="0"/>
              <a:t> </a:t>
            </a:r>
            <a:r>
              <a:rPr lang="en-US" dirty="0" err="1"/>
              <a:t>Viên</a:t>
            </a:r>
            <a:r>
              <a:rPr lang="en-US" dirty="0"/>
              <a:t>: </a:t>
            </a:r>
            <a:r>
              <a:rPr lang="en-US" dirty="0" err="1"/>
              <a:t>Lưu</a:t>
            </a:r>
            <a:r>
              <a:rPr lang="en-US" dirty="0"/>
              <a:t> An </a:t>
            </a:r>
            <a:r>
              <a:rPr lang="en-US" dirty="0" err="1"/>
              <a:t>Phú</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a:t>
            </a:fld>
            <a:endParaRPr lang="en-US" dirty="0"/>
          </a:p>
        </p:txBody>
      </p:sp>
      <p:sp>
        <p:nvSpPr>
          <p:cNvPr id="6" name="Footer Placeholder 5"/>
          <p:cNvSpPr>
            <a:spLocks noGrp="1"/>
          </p:cNvSpPr>
          <p:nvPr>
            <p:ph type="ftr" sz="quarter" idx="11"/>
          </p:nvPr>
        </p:nvSpPr>
        <p:spPr/>
        <p:txBody>
          <a:bodyPr/>
          <a:lstStyle/>
          <a:p>
            <a:r>
              <a:rPr lang="en-US"/>
              <a:t>©FPT SOFTWARE - Corporate Training Center - Internal Use</a:t>
            </a:r>
            <a:endParaRPr lang="en-US" dirty="0"/>
          </a:p>
        </p:txBody>
      </p:sp>
    </p:spTree>
    <p:extLst>
      <p:ext uri="{BB962C8B-B14F-4D97-AF65-F5344CB8AC3E}">
        <p14:creationId xmlns:p14="http://schemas.microsoft.com/office/powerpoint/2010/main" val="3426219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First stage boot loader</a:t>
            </a:r>
          </a:p>
          <a:p>
            <a:r>
              <a:rPr lang="en-US" dirty="0"/>
              <a:t>Second stage boot loader</a:t>
            </a:r>
          </a:p>
          <a:p>
            <a:r>
              <a:rPr lang="en-US" dirty="0"/>
              <a:t>Third stage boot loader</a:t>
            </a:r>
          </a:p>
          <a:p>
            <a:r>
              <a:rPr lang="en-US" dirty="0" err="1"/>
              <a:t>Uboot</a:t>
            </a:r>
            <a:r>
              <a:rPr lang="en-US" dirty="0"/>
              <a:t> architecture.</a:t>
            </a:r>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2</a:t>
            </a:fld>
            <a:endParaRPr lang="en-US"/>
          </a:p>
        </p:txBody>
      </p:sp>
    </p:spTree>
    <p:extLst>
      <p:ext uri="{BB962C8B-B14F-4D97-AF65-F5344CB8AC3E}">
        <p14:creationId xmlns:p14="http://schemas.microsoft.com/office/powerpoint/2010/main" val="2352078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stage boot loader</a:t>
            </a:r>
          </a:p>
        </p:txBody>
      </p:sp>
      <p:sp>
        <p:nvSpPr>
          <p:cNvPr id="3" name="Content Placeholder 2"/>
          <p:cNvSpPr>
            <a:spLocks noGrp="1"/>
          </p:cNvSpPr>
          <p:nvPr>
            <p:ph idx="1"/>
          </p:nvPr>
        </p:nvSpPr>
        <p:spPr/>
        <p:txBody>
          <a:bodyPr>
            <a:normAutofit lnSpcReduction="10000"/>
          </a:bodyPr>
          <a:lstStyle/>
          <a:p>
            <a:r>
              <a:rPr lang="en-US" dirty="0"/>
              <a:t>Boot rom</a:t>
            </a:r>
          </a:p>
          <a:p>
            <a:pPr lvl="1"/>
            <a:r>
              <a:rPr lang="en-US" dirty="0"/>
              <a:t>Là </a:t>
            </a:r>
            <a:r>
              <a:rPr lang="en-US" dirty="0" err="1"/>
              <a:t>chương</a:t>
            </a:r>
            <a:r>
              <a:rPr lang="en-US" dirty="0"/>
              <a:t> trình được </a:t>
            </a:r>
            <a:r>
              <a:rPr lang="en-US" dirty="0" err="1"/>
              <a:t>lưu</a:t>
            </a:r>
            <a:r>
              <a:rPr lang="en-US" dirty="0"/>
              <a:t> trong </a:t>
            </a:r>
            <a:r>
              <a:rPr lang="en-US" dirty="0" err="1"/>
              <a:t>vùng</a:t>
            </a:r>
            <a:r>
              <a:rPr lang="en-US" dirty="0"/>
              <a:t> </a:t>
            </a:r>
            <a:r>
              <a:rPr lang="en-US" dirty="0" err="1"/>
              <a:t>nhớ</a:t>
            </a:r>
            <a:r>
              <a:rPr lang="en-US" dirty="0"/>
              <a:t> Rom của </a:t>
            </a:r>
            <a:r>
              <a:rPr lang="en-US" dirty="0" err="1"/>
              <a:t>SoC</a:t>
            </a:r>
            <a:r>
              <a:rPr lang="en-US" dirty="0"/>
              <a:t>, </a:t>
            </a:r>
            <a:r>
              <a:rPr lang="en-US" dirty="0" err="1"/>
              <a:t>nằm</a:t>
            </a:r>
            <a:r>
              <a:rPr lang="en-US" dirty="0"/>
              <a:t> </a:t>
            </a:r>
            <a:r>
              <a:rPr lang="en-US" dirty="0" err="1"/>
              <a:t>tại</a:t>
            </a:r>
            <a:r>
              <a:rPr lang="en-US" dirty="0"/>
              <a:t> </a:t>
            </a:r>
            <a:r>
              <a:rPr lang="en-US" dirty="0" err="1"/>
              <a:t>địa</a:t>
            </a:r>
            <a:r>
              <a:rPr lang="en-US" dirty="0"/>
              <a:t> </a:t>
            </a:r>
            <a:r>
              <a:rPr lang="en-US" dirty="0" err="1"/>
              <a:t>chỉ</a:t>
            </a:r>
            <a:r>
              <a:rPr lang="en-US" dirty="0"/>
              <a:t> 0x20000.</a:t>
            </a:r>
          </a:p>
          <a:p>
            <a:pPr lvl="1"/>
            <a:r>
              <a:rPr lang="en-US" dirty="0" err="1"/>
              <a:t>Ngay</a:t>
            </a:r>
            <a:r>
              <a:rPr lang="en-US" dirty="0"/>
              <a:t> sau </a:t>
            </a:r>
            <a:r>
              <a:rPr lang="en-US" dirty="0" err="1"/>
              <a:t>khi</a:t>
            </a:r>
            <a:r>
              <a:rPr lang="en-US" dirty="0"/>
              <a:t> power on, CPU sẽ </a:t>
            </a:r>
            <a:r>
              <a:rPr lang="en-US" dirty="0" err="1"/>
              <a:t>thực</a:t>
            </a:r>
            <a:r>
              <a:rPr lang="en-US" dirty="0"/>
              <a:t> </a:t>
            </a:r>
            <a:r>
              <a:rPr lang="en-US" dirty="0" err="1"/>
              <a:t>thi</a:t>
            </a:r>
            <a:r>
              <a:rPr lang="en-US" dirty="0"/>
              <a:t> </a:t>
            </a:r>
            <a:r>
              <a:rPr lang="en-US" dirty="0" err="1"/>
              <a:t>chương</a:t>
            </a:r>
            <a:r>
              <a:rPr lang="en-US" dirty="0"/>
              <a:t> trình này.</a:t>
            </a:r>
          </a:p>
          <a:p>
            <a:pPr lvl="1"/>
            <a:r>
              <a:rPr lang="en-US" dirty="0" err="1"/>
              <a:t>Nhiệm</a:t>
            </a:r>
            <a:r>
              <a:rPr lang="en-US" dirty="0"/>
              <a:t> </a:t>
            </a:r>
            <a:r>
              <a:rPr lang="en-US" dirty="0" err="1"/>
              <a:t>vụ</a:t>
            </a:r>
            <a:r>
              <a:rPr lang="en-US" dirty="0"/>
              <a:t>: </a:t>
            </a:r>
            <a:r>
              <a:rPr lang="en-US" dirty="0" err="1"/>
              <a:t>Khởi</a:t>
            </a:r>
            <a:r>
              <a:rPr lang="en-US" dirty="0"/>
              <a:t> </a:t>
            </a:r>
            <a:r>
              <a:rPr lang="en-US" dirty="0" err="1"/>
              <a:t>tạo</a:t>
            </a:r>
            <a:r>
              <a:rPr lang="en-US" dirty="0"/>
              <a:t> 1 </a:t>
            </a:r>
            <a:r>
              <a:rPr lang="en-US" dirty="0" err="1"/>
              <a:t>số</a:t>
            </a:r>
            <a:r>
              <a:rPr lang="en-US" dirty="0"/>
              <a:t> clock, pin </a:t>
            </a:r>
            <a:r>
              <a:rPr lang="en-US" dirty="0" err="1"/>
              <a:t>muxing</a:t>
            </a:r>
            <a:r>
              <a:rPr lang="en-US" dirty="0"/>
              <a:t>, disable watchdog… </a:t>
            </a:r>
            <a:r>
              <a:rPr lang="en-US" dirty="0" err="1"/>
              <a:t>Đọc</a:t>
            </a:r>
            <a:r>
              <a:rPr lang="en-US" dirty="0"/>
              <a:t> </a:t>
            </a:r>
            <a:r>
              <a:rPr lang="en-US" dirty="0" err="1"/>
              <a:t>giá</a:t>
            </a:r>
            <a:r>
              <a:rPr lang="en-US" dirty="0"/>
              <a:t> </a:t>
            </a:r>
            <a:r>
              <a:rPr lang="en-US" dirty="0" err="1"/>
              <a:t>trị</a:t>
            </a:r>
            <a:r>
              <a:rPr lang="en-US" dirty="0"/>
              <a:t> của SYSBOOT_PIN để load second stage boot loader.</a:t>
            </a:r>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3</a:t>
            </a:fld>
            <a:endParaRPr lang="en-US"/>
          </a:p>
        </p:txBody>
      </p:sp>
    </p:spTree>
    <p:extLst>
      <p:ext uri="{BB962C8B-B14F-4D97-AF65-F5344CB8AC3E}">
        <p14:creationId xmlns:p14="http://schemas.microsoft.com/office/powerpoint/2010/main" val="293469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stage boot loader</a:t>
            </a:r>
          </a:p>
        </p:txBody>
      </p:sp>
      <p:pic>
        <p:nvPicPr>
          <p:cNvPr id="6" name="Content Placeholder 5"/>
          <p:cNvPicPr>
            <a:picLocks noGrp="1" noChangeAspect="1"/>
          </p:cNvPicPr>
          <p:nvPr>
            <p:ph idx="1"/>
          </p:nvPr>
        </p:nvPicPr>
        <p:blipFill>
          <a:blip r:embed="rId2"/>
          <a:stretch>
            <a:fillRect/>
          </a:stretch>
        </p:blipFill>
        <p:spPr>
          <a:xfrm>
            <a:off x="2345223" y="871538"/>
            <a:ext cx="4453553" cy="3722687"/>
          </a:xfrm>
          <a:prstGeom prst="rect">
            <a:avLst/>
          </a:prstGeom>
        </p:spPr>
      </p:pic>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4</a:t>
            </a:fld>
            <a:endParaRPr lang="en-US"/>
          </a:p>
        </p:txBody>
      </p:sp>
    </p:spTree>
    <p:extLst>
      <p:ext uri="{BB962C8B-B14F-4D97-AF65-F5344CB8AC3E}">
        <p14:creationId xmlns:p14="http://schemas.microsoft.com/office/powerpoint/2010/main" val="2697969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SYSBOOT Configuration Pins</a:t>
            </a:r>
            <a:r>
              <a:rPr lang="en-US" dirty="0"/>
              <a:t> </a:t>
            </a:r>
          </a:p>
        </p:txBody>
      </p:sp>
      <p:sp>
        <p:nvSpPr>
          <p:cNvPr id="3" name="Content Placeholder 2"/>
          <p:cNvSpPr>
            <a:spLocks noGrp="1"/>
          </p:cNvSpPr>
          <p:nvPr>
            <p:ph idx="1"/>
          </p:nvPr>
        </p:nvSpPr>
        <p:spPr/>
        <p:txBody>
          <a:bodyPr/>
          <a:lstStyle/>
          <a:p>
            <a:r>
              <a:rPr lang="en-US" dirty="0"/>
              <a:t>Bao </a:t>
            </a:r>
            <a:r>
              <a:rPr lang="en-US" dirty="0" err="1"/>
              <a:t>gồm</a:t>
            </a:r>
            <a:r>
              <a:rPr lang="en-US" dirty="0"/>
              <a:t> 15 </a:t>
            </a:r>
            <a:r>
              <a:rPr lang="en-US" dirty="0" err="1"/>
              <a:t>chân</a:t>
            </a:r>
            <a:r>
              <a:rPr lang="en-US" dirty="0"/>
              <a:t> Pin. </a:t>
            </a:r>
            <a:r>
              <a:rPr lang="en-US" dirty="0" err="1"/>
              <a:t>Giá</a:t>
            </a:r>
            <a:r>
              <a:rPr lang="en-US" dirty="0"/>
              <a:t> </a:t>
            </a:r>
            <a:r>
              <a:rPr lang="en-US" dirty="0" err="1"/>
              <a:t>trị</a:t>
            </a:r>
            <a:r>
              <a:rPr lang="en-US" dirty="0"/>
              <a:t> </a:t>
            </a:r>
            <a:r>
              <a:rPr lang="en-US" dirty="0" err="1"/>
              <a:t>điện</a:t>
            </a:r>
            <a:r>
              <a:rPr lang="en-US" dirty="0"/>
              <a:t> </a:t>
            </a:r>
            <a:r>
              <a:rPr lang="en-US" dirty="0" err="1"/>
              <a:t>áp</a:t>
            </a:r>
            <a:r>
              <a:rPr lang="en-US" dirty="0"/>
              <a:t> </a:t>
            </a:r>
            <a:r>
              <a:rPr lang="en-US" dirty="0" err="1"/>
              <a:t>tại</a:t>
            </a:r>
            <a:r>
              <a:rPr lang="en-US" dirty="0"/>
              <a:t> </a:t>
            </a:r>
            <a:r>
              <a:rPr lang="en-US" dirty="0" err="1"/>
              <a:t>mỗi</a:t>
            </a:r>
            <a:r>
              <a:rPr lang="en-US" dirty="0"/>
              <a:t> </a:t>
            </a:r>
            <a:r>
              <a:rPr lang="en-US" dirty="0" err="1"/>
              <a:t>chân</a:t>
            </a:r>
            <a:r>
              <a:rPr lang="en-US" dirty="0"/>
              <a:t> Pin sẽ </a:t>
            </a:r>
            <a:r>
              <a:rPr lang="en-US" dirty="0" err="1"/>
              <a:t>quyết</a:t>
            </a:r>
            <a:r>
              <a:rPr lang="en-US" dirty="0"/>
              <a:t> </a:t>
            </a:r>
            <a:r>
              <a:rPr lang="en-US" dirty="0" err="1"/>
              <a:t>định</a:t>
            </a:r>
            <a:r>
              <a:rPr lang="en-US" dirty="0"/>
              <a:t> 1 </a:t>
            </a:r>
            <a:r>
              <a:rPr lang="en-US" dirty="0" err="1"/>
              <a:t>thuộc</a:t>
            </a:r>
            <a:r>
              <a:rPr lang="en-US" dirty="0"/>
              <a:t> tính </a:t>
            </a:r>
            <a:r>
              <a:rPr lang="en-US" dirty="0" err="1"/>
              <a:t>khi</a:t>
            </a:r>
            <a:r>
              <a:rPr lang="en-US" dirty="0"/>
              <a:t> boot.</a:t>
            </a:r>
          </a:p>
          <a:p>
            <a:pPr lvl="1"/>
            <a:r>
              <a:rPr lang="en-US"/>
              <a:t>Crystal Frequency.</a:t>
            </a:r>
          </a:p>
          <a:p>
            <a:pPr lvl="1"/>
            <a:r>
              <a:rPr lang="en-US"/>
              <a:t>Pinmuxing.</a:t>
            </a:r>
            <a:endParaRPr lang="en-US" dirty="0"/>
          </a:p>
          <a:p>
            <a:pPr lvl="1"/>
            <a:r>
              <a:rPr lang="en-US"/>
              <a:t>Boot sequence.</a:t>
            </a:r>
            <a:endParaRPr lang="en-US" dirty="0"/>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5</a:t>
            </a:fld>
            <a:endParaRPr lang="en-US"/>
          </a:p>
        </p:txBody>
      </p:sp>
    </p:spTree>
    <p:extLst>
      <p:ext uri="{BB962C8B-B14F-4D97-AF65-F5344CB8AC3E}">
        <p14:creationId xmlns:p14="http://schemas.microsoft.com/office/powerpoint/2010/main" val="1611278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a:t>Secure boot</a:t>
            </a:r>
            <a:endParaRPr lang="en-US" dirty="0"/>
          </a:p>
        </p:txBody>
      </p:sp>
      <p:sp>
        <p:nvSpPr>
          <p:cNvPr id="3" name="Content Placeholder 2"/>
          <p:cNvSpPr>
            <a:spLocks noGrp="1"/>
          </p:cNvSpPr>
          <p:nvPr>
            <p:ph idx="1"/>
          </p:nvPr>
        </p:nvSpPr>
        <p:spPr/>
        <p:txBody>
          <a:bodyPr/>
          <a:lstStyle/>
          <a:p>
            <a:r>
              <a:rPr lang="en-US"/>
              <a:t>Chương trình boot rom của chip AM33xx có hỗ trợ tính năng secure boot bằng hardware.</a:t>
            </a:r>
          </a:p>
          <a:p>
            <a:pPr lvl="1"/>
            <a:r>
              <a:rPr lang="en-US"/>
              <a:t>ROM code lưu public key và private key.</a:t>
            </a:r>
          </a:p>
          <a:p>
            <a:pPr lvl="1"/>
            <a:r>
              <a:rPr lang="en-US"/>
              <a:t>Image lưu trên thiết bị nhớ phải được mã hoá bằng public key.</a:t>
            </a:r>
          </a:p>
          <a:p>
            <a:pPr lvl="1"/>
            <a:r>
              <a:rPr lang="en-US"/>
              <a:t>Sau khi load image và giải mã trên ram, chương trình ROM sẽ check tính hợp lệ của image.</a:t>
            </a:r>
            <a:endParaRPr lang="en-US" dirty="0"/>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6</a:t>
            </a:fld>
            <a:endParaRPr lang="en-US"/>
          </a:p>
        </p:txBody>
      </p:sp>
    </p:spTree>
    <p:extLst>
      <p:ext uri="{BB962C8B-B14F-4D97-AF65-F5344CB8AC3E}">
        <p14:creationId xmlns:p14="http://schemas.microsoft.com/office/powerpoint/2010/main" val="3873904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SYSBOOT Configuration Pins</a:t>
            </a:r>
            <a:r>
              <a:rPr lang="en-US" dirty="0"/>
              <a:t> </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3068" y="871538"/>
            <a:ext cx="4957864" cy="3722687"/>
          </a:xfrm>
        </p:spPr>
      </p:pic>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7</a:t>
            </a:fld>
            <a:endParaRPr lang="en-US"/>
          </a:p>
        </p:txBody>
      </p:sp>
    </p:spTree>
    <p:extLst>
      <p:ext uri="{BB962C8B-B14F-4D97-AF65-F5344CB8AC3E}">
        <p14:creationId xmlns:p14="http://schemas.microsoft.com/office/powerpoint/2010/main" val="1146373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Quy </a:t>
            </a:r>
            <a:r>
              <a:rPr lang="en-US" dirty="0" err="1"/>
              <a:t>định</a:t>
            </a:r>
            <a:r>
              <a:rPr lang="en-US" dirty="0"/>
              <a:t> </a:t>
            </a:r>
            <a:r>
              <a:rPr lang="en-US" dirty="0" err="1"/>
              <a:t>chân</a:t>
            </a:r>
            <a:r>
              <a:rPr lang="en-US" dirty="0"/>
              <a:t> Pin </a:t>
            </a:r>
            <a:r>
              <a:rPr lang="en-US" dirty="0" err="1"/>
              <a:t>khi</a:t>
            </a:r>
            <a:r>
              <a:rPr lang="en-US" dirty="0"/>
              <a:t> boot</a:t>
            </a:r>
          </a:p>
        </p:txBody>
      </p:sp>
      <p:sp>
        <p:nvSpPr>
          <p:cNvPr id="3" name="Content Placeholder 2"/>
          <p:cNvSpPr>
            <a:spLocks noGrp="1"/>
          </p:cNvSpPr>
          <p:nvPr>
            <p:ph idx="1"/>
          </p:nvPr>
        </p:nvSpPr>
        <p:spPr/>
        <p:txBody>
          <a:bodyPr/>
          <a:lstStyle/>
          <a:p>
            <a:r>
              <a:rPr lang="en-US" dirty="0"/>
              <a:t>Do code trong boot rom không </a:t>
            </a:r>
            <a:r>
              <a:rPr lang="en-US" dirty="0" err="1"/>
              <a:t>thay</a:t>
            </a:r>
            <a:r>
              <a:rPr lang="en-US" dirty="0"/>
              <a:t> </a:t>
            </a:r>
            <a:r>
              <a:rPr lang="en-US" dirty="0" err="1"/>
              <a:t>đổi</a:t>
            </a:r>
            <a:r>
              <a:rPr lang="en-US" dirty="0"/>
              <a:t> được, do đó các </a:t>
            </a:r>
            <a:r>
              <a:rPr lang="en-US" dirty="0" err="1"/>
              <a:t>thiết</a:t>
            </a:r>
            <a:r>
              <a:rPr lang="en-US" dirty="0"/>
              <a:t> </a:t>
            </a:r>
            <a:r>
              <a:rPr lang="en-US" dirty="0" err="1"/>
              <a:t>bị</a:t>
            </a:r>
            <a:r>
              <a:rPr lang="en-US" dirty="0"/>
              <a:t> </a:t>
            </a:r>
            <a:r>
              <a:rPr lang="en-US" dirty="0" err="1"/>
              <a:t>lưu</a:t>
            </a:r>
            <a:r>
              <a:rPr lang="en-US" dirty="0"/>
              <a:t> </a:t>
            </a:r>
            <a:r>
              <a:rPr lang="en-US" dirty="0" err="1"/>
              <a:t>trữ</a:t>
            </a:r>
            <a:r>
              <a:rPr lang="en-US" dirty="0"/>
              <a:t> code </a:t>
            </a:r>
            <a:r>
              <a:rPr lang="en-US" dirty="0" err="1"/>
              <a:t>uboot</a:t>
            </a:r>
            <a:r>
              <a:rPr lang="en-US" dirty="0"/>
              <a:t> dùng để </a:t>
            </a:r>
            <a:r>
              <a:rPr lang="en-US" dirty="0" err="1"/>
              <a:t>khởi</a:t>
            </a:r>
            <a:r>
              <a:rPr lang="en-US" dirty="0"/>
              <a:t> </a:t>
            </a:r>
            <a:r>
              <a:rPr lang="en-US" dirty="0" err="1"/>
              <a:t>động</a:t>
            </a:r>
            <a:r>
              <a:rPr lang="en-US" dirty="0"/>
              <a:t> </a:t>
            </a:r>
            <a:r>
              <a:rPr lang="en-US" dirty="0" err="1"/>
              <a:t>phải</a:t>
            </a:r>
            <a:r>
              <a:rPr lang="en-US" dirty="0"/>
              <a:t> connect </a:t>
            </a:r>
            <a:r>
              <a:rPr lang="en-US" dirty="0" err="1"/>
              <a:t>vào</a:t>
            </a:r>
            <a:r>
              <a:rPr lang="en-US" dirty="0"/>
              <a:t> </a:t>
            </a:r>
            <a:r>
              <a:rPr lang="en-US" dirty="0" err="1"/>
              <a:t>SoC</a:t>
            </a:r>
            <a:r>
              <a:rPr lang="en-US" dirty="0"/>
              <a:t> </a:t>
            </a:r>
            <a:r>
              <a:rPr lang="en-US" dirty="0" err="1"/>
              <a:t>theo</a:t>
            </a:r>
            <a:r>
              <a:rPr lang="en-US" dirty="0"/>
              <a:t> </a:t>
            </a:r>
            <a:r>
              <a:rPr lang="en-US" dirty="0" err="1"/>
              <a:t>đúng</a:t>
            </a:r>
            <a:r>
              <a:rPr lang="en-US" dirty="0"/>
              <a:t> các </a:t>
            </a:r>
            <a:r>
              <a:rPr lang="en-US" dirty="0" err="1"/>
              <a:t>chân</a:t>
            </a:r>
            <a:r>
              <a:rPr lang="en-US" dirty="0"/>
              <a:t> Pin được </a:t>
            </a:r>
            <a:r>
              <a:rPr lang="en-US" dirty="0" err="1"/>
              <a:t>quy</a:t>
            </a:r>
            <a:r>
              <a:rPr lang="en-US" dirty="0"/>
              <a:t> </a:t>
            </a:r>
            <a:r>
              <a:rPr lang="en-US" dirty="0" err="1"/>
              <a:t>định</a:t>
            </a:r>
            <a:r>
              <a:rPr lang="en-US" dirty="0"/>
              <a:t> </a:t>
            </a:r>
            <a:r>
              <a:rPr lang="en-US" dirty="0" err="1"/>
              <a:t>trước</a:t>
            </a:r>
            <a:r>
              <a:rPr lang="en-US" dirty="0"/>
              <a:t>. </a:t>
            </a:r>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8</a:t>
            </a:fld>
            <a:endParaRPr lang="en-US"/>
          </a:p>
        </p:txBody>
      </p:sp>
      <p:pic>
        <p:nvPicPr>
          <p:cNvPr id="6" name="Picture 5"/>
          <p:cNvPicPr>
            <a:picLocks noChangeAspect="1"/>
          </p:cNvPicPr>
          <p:nvPr/>
        </p:nvPicPr>
        <p:blipFill>
          <a:blip r:embed="rId2"/>
          <a:stretch>
            <a:fillRect/>
          </a:stretch>
        </p:blipFill>
        <p:spPr>
          <a:xfrm>
            <a:off x="1675596" y="2965744"/>
            <a:ext cx="5792807" cy="1628879"/>
          </a:xfrm>
          <a:prstGeom prst="rect">
            <a:avLst/>
          </a:prstGeom>
        </p:spPr>
      </p:pic>
    </p:spTree>
    <p:extLst>
      <p:ext uri="{BB962C8B-B14F-4D97-AF65-F5344CB8AC3E}">
        <p14:creationId xmlns:p14="http://schemas.microsoft.com/office/powerpoint/2010/main" val="577143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E189B-9922-E8BC-455B-B9B3BAF2458D}"/>
              </a:ext>
            </a:extLst>
          </p:cNvPr>
          <p:cNvSpPr>
            <a:spLocks noGrp="1"/>
          </p:cNvSpPr>
          <p:nvPr>
            <p:ph type="title"/>
          </p:nvPr>
        </p:nvSpPr>
        <p:spPr/>
        <p:txBody>
          <a:bodyPr/>
          <a:lstStyle/>
          <a:p>
            <a:r>
              <a:rPr lang="en-US"/>
              <a:t>Uboot</a:t>
            </a:r>
          </a:p>
        </p:txBody>
      </p:sp>
      <p:sp>
        <p:nvSpPr>
          <p:cNvPr id="3" name="Content Placeholder 2">
            <a:extLst>
              <a:ext uri="{FF2B5EF4-FFF2-40B4-BE49-F238E27FC236}">
                <a16:creationId xmlns:a16="http://schemas.microsoft.com/office/drawing/2014/main" id="{40522076-EF2D-6009-41B6-EEFFB4ABE7C5}"/>
              </a:ext>
            </a:extLst>
          </p:cNvPr>
          <p:cNvSpPr>
            <a:spLocks noGrp="1"/>
          </p:cNvSpPr>
          <p:nvPr>
            <p:ph idx="1"/>
          </p:nvPr>
        </p:nvSpPr>
        <p:spPr/>
        <p:txBody>
          <a:bodyPr>
            <a:normAutofit fontScale="92500" lnSpcReduction="10000"/>
          </a:bodyPr>
          <a:lstStyle/>
          <a:p>
            <a:r>
              <a:rPr lang="en-US"/>
              <a:t>Do đặc thù kích thước nhỏ và không thể ghi đè lại. Nên chương trình boot ROM thường sẽ làm rất đơn giản. Tuy nhiên ngày nay, có nhu cầu về những cách thức boot phức tạp hơn. Ví dụ như cho phép boot OS từ ethernet, serial, hiển thị logo, boot song song nhiều OS…</a:t>
            </a:r>
          </a:p>
          <a:p>
            <a:pPr lvl="1"/>
            <a:r>
              <a:rPr lang="en-US"/>
              <a:t>Do đó cần phải có 1 chương trình boot loader phức tạp hơn. Chương trình sẽ được lưu ở bộ nhớ ngoài với kích thước lớn hơn. Uboot ra đời.</a:t>
            </a:r>
          </a:p>
        </p:txBody>
      </p:sp>
      <p:sp>
        <p:nvSpPr>
          <p:cNvPr id="4" name="Footer Placeholder 3">
            <a:extLst>
              <a:ext uri="{FF2B5EF4-FFF2-40B4-BE49-F238E27FC236}">
                <a16:creationId xmlns:a16="http://schemas.microsoft.com/office/drawing/2014/main" id="{9883D0BD-C925-1612-FC9B-93C3C7FEE2ED}"/>
              </a:ext>
            </a:extLst>
          </p:cNvPr>
          <p:cNvSpPr>
            <a:spLocks noGrp="1"/>
          </p:cNvSpPr>
          <p:nvPr>
            <p:ph type="ftr" sz="quarter" idx="11"/>
          </p:nvPr>
        </p:nvSpPr>
        <p:spPr/>
        <p:txBody>
          <a:bodyPr/>
          <a:lstStyle/>
          <a:p>
            <a:r>
              <a:rPr lang="en-US"/>
              <a:t>©FPT SOFTWARE - Corporate Training Center - Internal Use</a:t>
            </a:r>
          </a:p>
        </p:txBody>
      </p:sp>
      <p:sp>
        <p:nvSpPr>
          <p:cNvPr id="5" name="Slide Number Placeholder 4">
            <a:extLst>
              <a:ext uri="{FF2B5EF4-FFF2-40B4-BE49-F238E27FC236}">
                <a16:creationId xmlns:a16="http://schemas.microsoft.com/office/drawing/2014/main" id="{82599152-C921-4F71-A4BC-A330776873BE}"/>
              </a:ext>
            </a:extLst>
          </p:cNvPr>
          <p:cNvSpPr>
            <a:spLocks noGrp="1"/>
          </p:cNvSpPr>
          <p:nvPr>
            <p:ph type="sldNum" sz="quarter" idx="12"/>
          </p:nvPr>
        </p:nvSpPr>
        <p:spPr/>
        <p:txBody>
          <a:bodyPr/>
          <a:lstStyle/>
          <a:p>
            <a:fld id="{E3B08AF7-4237-6949-8335-F63F47C2C8CC}" type="slidenum">
              <a:rPr lang="en-US" smtClean="0"/>
              <a:t>9</a:t>
            </a:fld>
            <a:endParaRPr lang="en-US"/>
          </a:p>
        </p:txBody>
      </p:sp>
    </p:spTree>
    <p:extLst>
      <p:ext uri="{BB962C8B-B14F-4D97-AF65-F5344CB8AC3E}">
        <p14:creationId xmlns:p14="http://schemas.microsoft.com/office/powerpoint/2010/main" val="3344157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stage boot loader</a:t>
            </a:r>
          </a:p>
        </p:txBody>
      </p:sp>
      <p:sp>
        <p:nvSpPr>
          <p:cNvPr id="3" name="Content Placeholder 2"/>
          <p:cNvSpPr>
            <a:spLocks noGrp="1"/>
          </p:cNvSpPr>
          <p:nvPr>
            <p:ph idx="1"/>
          </p:nvPr>
        </p:nvSpPr>
        <p:spPr/>
        <p:txBody>
          <a:bodyPr>
            <a:normAutofit fontScale="70000" lnSpcReduction="20000"/>
          </a:bodyPr>
          <a:lstStyle/>
          <a:p>
            <a:r>
              <a:rPr lang="en-US"/>
              <a:t>Uboot sẽ đóng vai trò là second stage (SPL) và third stage (TPL) boot loader.</a:t>
            </a:r>
          </a:p>
          <a:p>
            <a:r>
              <a:rPr lang="en-US"/>
              <a:t>Những tình huống trong dự án mà chúng ta phải làm việc với uboot:</a:t>
            </a:r>
          </a:p>
          <a:p>
            <a:pPr lvl="1"/>
            <a:r>
              <a:rPr lang="en-US"/>
              <a:t>Check phần cứng. Một số lỗi xảy ra mà chúng ta không thể phân biệt được đó là lỗi của phần cứng hay phần mềm.</a:t>
            </a:r>
          </a:p>
          <a:p>
            <a:pPr lvl="1"/>
            <a:r>
              <a:rPr lang="en-US"/>
              <a:t>Cấu hình lại chân pin.</a:t>
            </a:r>
          </a:p>
          <a:p>
            <a:pPr lvl="2"/>
            <a:r>
              <a:rPr lang="en-US"/>
              <a:t>Board BBB đang có mặc định 4 cổng serial. Chúng ta muốn lấy chân pin của 3 cổng để dùng vào việc khác =&gt; Cấu hình lại chân pin.</a:t>
            </a:r>
          </a:p>
          <a:p>
            <a:pPr lvl="1"/>
            <a:r>
              <a:rPr lang="en-US"/>
              <a:t>Sửa lại giao diện boot</a:t>
            </a:r>
          </a:p>
          <a:p>
            <a:pPr lvl="2"/>
            <a:r>
              <a:rPr lang="en-US"/>
              <a:t>Một số thiết bị cho phép hiển thị logo ngay khi bật nguồn.</a:t>
            </a:r>
            <a:endParaRPr lang="en-US" dirty="0"/>
          </a:p>
          <a:p>
            <a:pPr lvl="1"/>
            <a:r>
              <a:rPr lang="en-US"/>
              <a:t>Nhìn chung, đa số công việc mà chúng ta làm với uboot sẽ làm nhiệm vụ chuẩn bị môi trường để boot được linux từ thiết bị lưu trữ.</a:t>
            </a:r>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10</a:t>
            </a:fld>
            <a:endParaRPr lang="en-US"/>
          </a:p>
        </p:txBody>
      </p:sp>
    </p:spTree>
    <p:extLst>
      <p:ext uri="{BB962C8B-B14F-4D97-AF65-F5344CB8AC3E}">
        <p14:creationId xmlns:p14="http://schemas.microsoft.com/office/powerpoint/2010/main" val="1086677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Kiến trúc của uboot</a:t>
            </a:r>
            <a:endParaRPr lang="en-US" dirty="0"/>
          </a:p>
        </p:txBody>
      </p:sp>
      <p:sp>
        <p:nvSpPr>
          <p:cNvPr id="3" name="Content Placeholder 2"/>
          <p:cNvSpPr>
            <a:spLocks noGrp="1"/>
          </p:cNvSpPr>
          <p:nvPr>
            <p:ph idx="1"/>
          </p:nvPr>
        </p:nvSpPr>
        <p:spPr/>
        <p:txBody>
          <a:bodyPr/>
          <a:lstStyle/>
          <a:p>
            <a:pPr marL="0" indent="0">
              <a:buNone/>
            </a:pPr>
            <a:endParaRPr lang="en-US" dirty="0"/>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11</a:t>
            </a:fld>
            <a:endParaRPr lang="en-US"/>
          </a:p>
        </p:txBody>
      </p:sp>
      <p:grpSp>
        <p:nvGrpSpPr>
          <p:cNvPr id="7" name="Group 6">
            <a:extLst>
              <a:ext uri="{FF2B5EF4-FFF2-40B4-BE49-F238E27FC236}">
                <a16:creationId xmlns:a16="http://schemas.microsoft.com/office/drawing/2014/main" id="{7DEF567D-702D-4F2E-A390-B0EC79D9FE20}"/>
              </a:ext>
            </a:extLst>
          </p:cNvPr>
          <p:cNvGrpSpPr/>
          <p:nvPr/>
        </p:nvGrpSpPr>
        <p:grpSpPr>
          <a:xfrm>
            <a:off x="1971675" y="1071562"/>
            <a:ext cx="5200650" cy="3000375"/>
            <a:chOff x="0" y="0"/>
            <a:chExt cx="5200650" cy="3000375"/>
          </a:xfrm>
        </p:grpSpPr>
        <p:sp>
          <p:nvSpPr>
            <p:cNvPr id="8" name="Rectangle 7">
              <a:extLst>
                <a:ext uri="{FF2B5EF4-FFF2-40B4-BE49-F238E27FC236}">
                  <a16:creationId xmlns:a16="http://schemas.microsoft.com/office/drawing/2014/main" id="{D2BEE13E-11D3-4F58-8623-F561840A4146}"/>
                </a:ext>
              </a:extLst>
            </p:cNvPr>
            <p:cNvSpPr/>
            <p:nvPr/>
          </p:nvSpPr>
          <p:spPr>
            <a:xfrm>
              <a:off x="0" y="0"/>
              <a:ext cx="2143125" cy="3000375"/>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400" b="1">
                  <a:solidFill>
                    <a:sysClr val="windowText" lastClr="000000"/>
                  </a:solidFill>
                </a:rPr>
                <a:t>Linux</a:t>
              </a:r>
            </a:p>
          </p:txBody>
        </p:sp>
        <p:sp>
          <p:nvSpPr>
            <p:cNvPr id="9" name="Rectangle 8">
              <a:extLst>
                <a:ext uri="{FF2B5EF4-FFF2-40B4-BE49-F238E27FC236}">
                  <a16:creationId xmlns:a16="http://schemas.microsoft.com/office/drawing/2014/main" id="{30433283-4AD2-4DA7-B1A2-700DA0B9C0E3}"/>
                </a:ext>
              </a:extLst>
            </p:cNvPr>
            <p:cNvSpPr/>
            <p:nvPr/>
          </p:nvSpPr>
          <p:spPr>
            <a:xfrm>
              <a:off x="142875" y="323850"/>
              <a:ext cx="1819275" cy="581025"/>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a:solidFill>
                    <a:sysClr val="windowText" lastClr="000000"/>
                  </a:solidFill>
                </a:rPr>
                <a:t>Application</a:t>
              </a:r>
            </a:p>
          </p:txBody>
        </p:sp>
        <p:sp>
          <p:nvSpPr>
            <p:cNvPr id="10" name="Rectangle 9">
              <a:extLst>
                <a:ext uri="{FF2B5EF4-FFF2-40B4-BE49-F238E27FC236}">
                  <a16:creationId xmlns:a16="http://schemas.microsoft.com/office/drawing/2014/main" id="{D8140D95-663D-426A-B485-1B830A3F28A9}"/>
                </a:ext>
              </a:extLst>
            </p:cNvPr>
            <p:cNvSpPr/>
            <p:nvPr/>
          </p:nvSpPr>
          <p:spPr>
            <a:xfrm>
              <a:off x="142875" y="1295400"/>
              <a:ext cx="1819275" cy="58102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a:solidFill>
                    <a:sysClr val="windowText" lastClr="000000"/>
                  </a:solidFill>
                </a:rPr>
                <a:t>Kernel</a:t>
              </a:r>
              <a:r>
                <a:rPr lang="en-US" sz="1100" baseline="0">
                  <a:solidFill>
                    <a:sysClr val="windowText" lastClr="000000"/>
                  </a:solidFill>
                </a:rPr>
                <a:t> space</a:t>
              </a:r>
              <a:endParaRPr lang="en-US" sz="1100">
                <a:solidFill>
                  <a:sysClr val="windowText" lastClr="000000"/>
                </a:solidFill>
              </a:endParaRPr>
            </a:p>
          </p:txBody>
        </p:sp>
        <p:sp>
          <p:nvSpPr>
            <p:cNvPr id="11" name="Rectangle 10">
              <a:extLst>
                <a:ext uri="{FF2B5EF4-FFF2-40B4-BE49-F238E27FC236}">
                  <a16:creationId xmlns:a16="http://schemas.microsoft.com/office/drawing/2014/main" id="{85A960E9-73DD-4E49-99FE-906FE4732CC3}"/>
                </a:ext>
              </a:extLst>
            </p:cNvPr>
            <p:cNvSpPr/>
            <p:nvPr/>
          </p:nvSpPr>
          <p:spPr>
            <a:xfrm>
              <a:off x="142875" y="2238375"/>
              <a:ext cx="1819275" cy="58102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a:solidFill>
                    <a:sysClr val="windowText" lastClr="000000"/>
                  </a:solidFill>
                </a:rPr>
                <a:t>Device driver</a:t>
              </a:r>
            </a:p>
          </p:txBody>
        </p:sp>
        <p:cxnSp>
          <p:nvCxnSpPr>
            <p:cNvPr id="12" name="Straight Arrow Connector 11">
              <a:extLst>
                <a:ext uri="{FF2B5EF4-FFF2-40B4-BE49-F238E27FC236}">
                  <a16:creationId xmlns:a16="http://schemas.microsoft.com/office/drawing/2014/main" id="{D2FF9706-89BF-4076-BA94-BBEBAFD5EE9D}"/>
                </a:ext>
              </a:extLst>
            </p:cNvPr>
            <p:cNvCxnSpPr>
              <a:stCxn id="9" idx="2"/>
              <a:endCxn id="10" idx="0"/>
            </p:cNvCxnSpPr>
            <p:nvPr/>
          </p:nvCxnSpPr>
          <p:spPr>
            <a:xfrm>
              <a:off x="1052513" y="904875"/>
              <a:ext cx="0" cy="39052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A7E59EF-FD2C-49F9-844E-DA71A87FF043}"/>
                </a:ext>
              </a:extLst>
            </p:cNvPr>
            <p:cNvCxnSpPr>
              <a:stCxn id="10" idx="2"/>
              <a:endCxn id="11" idx="0"/>
            </p:cNvCxnSpPr>
            <p:nvPr/>
          </p:nvCxnSpPr>
          <p:spPr>
            <a:xfrm>
              <a:off x="1052513" y="1876425"/>
              <a:ext cx="0" cy="36195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6283060-6690-41F5-AE32-A42DF7B737D8}"/>
                </a:ext>
              </a:extLst>
            </p:cNvPr>
            <p:cNvSpPr/>
            <p:nvPr/>
          </p:nvSpPr>
          <p:spPr>
            <a:xfrm>
              <a:off x="3190875" y="333375"/>
              <a:ext cx="1819275" cy="581025"/>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a:solidFill>
                    <a:sysClr val="windowText" lastClr="000000"/>
                  </a:solidFill>
                </a:rPr>
                <a:t>Command line</a:t>
              </a:r>
            </a:p>
          </p:txBody>
        </p:sp>
        <p:sp>
          <p:nvSpPr>
            <p:cNvPr id="15" name="Rectangle 14">
              <a:extLst>
                <a:ext uri="{FF2B5EF4-FFF2-40B4-BE49-F238E27FC236}">
                  <a16:creationId xmlns:a16="http://schemas.microsoft.com/office/drawing/2014/main" id="{618250AC-0233-41C6-BDD7-4F9BEEA0B721}"/>
                </a:ext>
              </a:extLst>
            </p:cNvPr>
            <p:cNvSpPr/>
            <p:nvPr/>
          </p:nvSpPr>
          <p:spPr>
            <a:xfrm>
              <a:off x="3190875" y="1304925"/>
              <a:ext cx="1819275" cy="58102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a:solidFill>
                    <a:sysClr val="windowText" lastClr="000000"/>
                  </a:solidFill>
                </a:rPr>
                <a:t>Middle ware</a:t>
              </a:r>
            </a:p>
          </p:txBody>
        </p:sp>
        <p:sp>
          <p:nvSpPr>
            <p:cNvPr id="16" name="Rectangle 15">
              <a:extLst>
                <a:ext uri="{FF2B5EF4-FFF2-40B4-BE49-F238E27FC236}">
                  <a16:creationId xmlns:a16="http://schemas.microsoft.com/office/drawing/2014/main" id="{AC6CDC7A-D7AD-4E9E-8967-74CEE52A1F6B}"/>
                </a:ext>
              </a:extLst>
            </p:cNvPr>
            <p:cNvSpPr/>
            <p:nvPr/>
          </p:nvSpPr>
          <p:spPr>
            <a:xfrm>
              <a:off x="3190875" y="2247900"/>
              <a:ext cx="1819275" cy="58102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a:solidFill>
                    <a:sysClr val="windowText" lastClr="000000"/>
                  </a:solidFill>
                </a:rPr>
                <a:t>Device driver</a:t>
              </a:r>
            </a:p>
          </p:txBody>
        </p:sp>
        <p:cxnSp>
          <p:nvCxnSpPr>
            <p:cNvPr id="17" name="Straight Arrow Connector 16">
              <a:extLst>
                <a:ext uri="{FF2B5EF4-FFF2-40B4-BE49-F238E27FC236}">
                  <a16:creationId xmlns:a16="http://schemas.microsoft.com/office/drawing/2014/main" id="{37C55923-FAF6-426F-B55D-47626C34649B}"/>
                </a:ext>
              </a:extLst>
            </p:cNvPr>
            <p:cNvCxnSpPr>
              <a:stCxn id="14" idx="2"/>
              <a:endCxn id="15" idx="0"/>
            </p:cNvCxnSpPr>
            <p:nvPr/>
          </p:nvCxnSpPr>
          <p:spPr>
            <a:xfrm>
              <a:off x="4100513" y="914400"/>
              <a:ext cx="0" cy="39052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E00072-8BA4-43A2-B3B1-655045C57B92}"/>
                </a:ext>
              </a:extLst>
            </p:cNvPr>
            <p:cNvCxnSpPr>
              <a:stCxn id="15" idx="2"/>
              <a:endCxn id="16" idx="0"/>
            </p:cNvCxnSpPr>
            <p:nvPr/>
          </p:nvCxnSpPr>
          <p:spPr>
            <a:xfrm>
              <a:off x="4100513" y="1885950"/>
              <a:ext cx="0" cy="36195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7551C63-9C5D-44EA-8549-952608B5D365}"/>
                </a:ext>
              </a:extLst>
            </p:cNvPr>
            <p:cNvSpPr/>
            <p:nvPr/>
          </p:nvSpPr>
          <p:spPr>
            <a:xfrm>
              <a:off x="3057525" y="0"/>
              <a:ext cx="2143125" cy="3000375"/>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400" b="1">
                  <a:solidFill>
                    <a:sysClr val="windowText" lastClr="000000"/>
                  </a:solidFill>
                </a:rPr>
                <a:t>U-boot</a:t>
              </a:r>
            </a:p>
          </p:txBody>
        </p:sp>
      </p:grpSp>
    </p:spTree>
    <p:extLst>
      <p:ext uri="{BB962C8B-B14F-4D97-AF65-F5344CB8AC3E}">
        <p14:creationId xmlns:p14="http://schemas.microsoft.com/office/powerpoint/2010/main" val="3437036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Kiến trúc của uboot</a:t>
            </a:r>
            <a:endParaRPr lang="en-US" dirty="0"/>
          </a:p>
        </p:txBody>
      </p:sp>
      <p:sp>
        <p:nvSpPr>
          <p:cNvPr id="3" name="Content Placeholder 2"/>
          <p:cNvSpPr>
            <a:spLocks noGrp="1"/>
          </p:cNvSpPr>
          <p:nvPr>
            <p:ph idx="1"/>
          </p:nvPr>
        </p:nvSpPr>
        <p:spPr/>
        <p:txBody>
          <a:bodyPr>
            <a:normAutofit fontScale="77500" lnSpcReduction="20000"/>
          </a:bodyPr>
          <a:lstStyle/>
          <a:p>
            <a:r>
              <a:rPr lang="en-US"/>
              <a:t>Uboot được xây dựng với tư tưởng như sau:</a:t>
            </a:r>
          </a:p>
          <a:p>
            <a:pPr lvl="1"/>
            <a:r>
              <a:rPr lang="en-US"/>
              <a:t>Tầng thấp nhất là các device driver. Chúng làm nhiệm vụ điều khiển phần cứng. Chức năng sẽ tập chung vào cấu hình clock, power, pinmuxing, đọc ghi dữ liệu từ thiết bị nhớ.</a:t>
            </a:r>
          </a:p>
          <a:p>
            <a:pPr lvl="1"/>
            <a:r>
              <a:rPr lang="en-US"/>
              <a:t>Tầng thư viện: Là các library với những API như printf, debug_log, read(), write()…</a:t>
            </a:r>
          </a:p>
          <a:p>
            <a:pPr lvl="1"/>
            <a:r>
              <a:rPr lang="en-US"/>
              <a:t>Tầng application: Là các command line. Như read, load, bootm…</a:t>
            </a:r>
          </a:p>
          <a:p>
            <a:r>
              <a:rPr lang="en-US"/>
              <a:t>Mục đich cuối cùng của uboot là thực hiện boot script. Boot script sẽ gọi 1 loạt các command line để thực hiện việc boot hệ điều hành.</a:t>
            </a:r>
            <a:endParaRPr lang="en-US" dirty="0"/>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12</a:t>
            </a:fld>
            <a:endParaRPr lang="en-US"/>
          </a:p>
        </p:txBody>
      </p:sp>
    </p:spTree>
    <p:extLst>
      <p:ext uri="{BB962C8B-B14F-4D97-AF65-F5344CB8AC3E}">
        <p14:creationId xmlns:p14="http://schemas.microsoft.com/office/powerpoint/2010/main" val="12631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54124C8-302D-1E27-ECA7-469235ACFF24}"/>
              </a:ext>
            </a:extLst>
          </p:cNvPr>
          <p:cNvSpPr>
            <a:spLocks noGrp="1"/>
          </p:cNvSpPr>
          <p:nvPr>
            <p:ph type="title"/>
          </p:nvPr>
        </p:nvSpPr>
        <p:spPr/>
        <p:txBody>
          <a:bodyPr/>
          <a:lstStyle/>
          <a:p>
            <a:endParaRPr lang="en-US"/>
          </a:p>
        </p:txBody>
      </p:sp>
      <p:sp>
        <p:nvSpPr>
          <p:cNvPr id="10" name="Text Placeholder 9">
            <a:extLst>
              <a:ext uri="{FF2B5EF4-FFF2-40B4-BE49-F238E27FC236}">
                <a16:creationId xmlns:a16="http://schemas.microsoft.com/office/drawing/2014/main" id="{240727D6-57D9-C583-9F7B-D84D45AB3412}"/>
              </a:ext>
            </a:extLst>
          </p:cNvPr>
          <p:cNvSpPr>
            <a:spLocks noGrp="1"/>
          </p:cNvSpPr>
          <p:nvPr>
            <p:ph type="body" idx="1"/>
          </p:nvPr>
        </p:nvSpPr>
        <p:spPr/>
        <p:txBody>
          <a:bodyPr/>
          <a:lstStyle/>
          <a:p>
            <a:r>
              <a:rPr lang="en-US"/>
              <a:t>Demo về command line và boot script của uboot</a:t>
            </a:r>
          </a:p>
        </p:txBody>
      </p:sp>
      <p:sp>
        <p:nvSpPr>
          <p:cNvPr id="4" name="Footer Placeholder 3">
            <a:extLst>
              <a:ext uri="{FF2B5EF4-FFF2-40B4-BE49-F238E27FC236}">
                <a16:creationId xmlns:a16="http://schemas.microsoft.com/office/drawing/2014/main" id="{8FF73A92-698B-9BE4-FD00-DF48575AB18B}"/>
              </a:ext>
            </a:extLst>
          </p:cNvPr>
          <p:cNvSpPr>
            <a:spLocks noGrp="1"/>
          </p:cNvSpPr>
          <p:nvPr>
            <p:ph type="ftr" sz="quarter" idx="11"/>
          </p:nvPr>
        </p:nvSpPr>
        <p:spPr/>
        <p:txBody>
          <a:bodyPr/>
          <a:lstStyle/>
          <a:p>
            <a:r>
              <a:rPr lang="en-US"/>
              <a:t>©FPT SOFTWARE - Corporate Training Center - Internal Use</a:t>
            </a:r>
          </a:p>
        </p:txBody>
      </p:sp>
      <p:sp>
        <p:nvSpPr>
          <p:cNvPr id="5" name="Slide Number Placeholder 4">
            <a:extLst>
              <a:ext uri="{FF2B5EF4-FFF2-40B4-BE49-F238E27FC236}">
                <a16:creationId xmlns:a16="http://schemas.microsoft.com/office/drawing/2014/main" id="{274553F4-C5A7-B168-E47D-9586A3B2424F}"/>
              </a:ext>
            </a:extLst>
          </p:cNvPr>
          <p:cNvSpPr>
            <a:spLocks noGrp="1"/>
          </p:cNvSpPr>
          <p:nvPr>
            <p:ph type="sldNum" sz="quarter" idx="12"/>
          </p:nvPr>
        </p:nvSpPr>
        <p:spPr/>
        <p:txBody>
          <a:bodyPr/>
          <a:lstStyle/>
          <a:p>
            <a:fld id="{E3B08AF7-4237-6949-8335-F63F47C2C8CC}" type="slidenum">
              <a:rPr lang="en-US" smtClean="0"/>
              <a:t>13</a:t>
            </a:fld>
            <a:endParaRPr lang="en-US"/>
          </a:p>
        </p:txBody>
      </p:sp>
    </p:spTree>
    <p:extLst>
      <p:ext uri="{BB962C8B-B14F-4D97-AF65-F5344CB8AC3E}">
        <p14:creationId xmlns:p14="http://schemas.microsoft.com/office/powerpoint/2010/main" val="1922871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9345-495D-3936-713B-C7FA2AE928C3}"/>
              </a:ext>
            </a:extLst>
          </p:cNvPr>
          <p:cNvSpPr>
            <a:spLocks noGrp="1"/>
          </p:cNvSpPr>
          <p:nvPr>
            <p:ph type="title"/>
          </p:nvPr>
        </p:nvSpPr>
        <p:spPr/>
        <p:txBody>
          <a:bodyPr/>
          <a:lstStyle/>
          <a:p>
            <a:r>
              <a:rPr lang="en-US"/>
              <a:t>Uboot source code</a:t>
            </a:r>
          </a:p>
        </p:txBody>
      </p:sp>
      <p:sp>
        <p:nvSpPr>
          <p:cNvPr id="10" name="Text Placeholder 9">
            <a:extLst>
              <a:ext uri="{FF2B5EF4-FFF2-40B4-BE49-F238E27FC236}">
                <a16:creationId xmlns:a16="http://schemas.microsoft.com/office/drawing/2014/main" id="{240727D6-57D9-C583-9F7B-D84D45AB3412}"/>
              </a:ext>
            </a:extLst>
          </p:cNvPr>
          <p:cNvSpPr>
            <a:spLocks noGrp="1"/>
          </p:cNvSpPr>
          <p:nvPr>
            <p:ph idx="1"/>
          </p:nvPr>
        </p:nvSpPr>
        <p:spPr/>
        <p:txBody>
          <a:bodyPr/>
          <a:lstStyle/>
          <a:p>
            <a:r>
              <a:rPr lang="en-US"/>
              <a:t>Device tree.</a:t>
            </a:r>
          </a:p>
          <a:p>
            <a:pPr lvl="1"/>
            <a:r>
              <a:rPr lang="en-US"/>
              <a:t>Syntax về device tree trong uboot follow theo đúng với Linux.</a:t>
            </a:r>
          </a:p>
          <a:p>
            <a:r>
              <a:rPr lang="en-US"/>
              <a:t>Device driver</a:t>
            </a:r>
          </a:p>
          <a:p>
            <a:pPr lvl="1"/>
            <a:r>
              <a:rPr lang="en-US"/>
              <a:t>Template về driver của uboot khá giống với Linux.</a:t>
            </a:r>
          </a:p>
          <a:p>
            <a:r>
              <a:rPr lang="en-US"/>
              <a:t>Command line</a:t>
            </a:r>
          </a:p>
        </p:txBody>
      </p:sp>
      <p:sp>
        <p:nvSpPr>
          <p:cNvPr id="4" name="Footer Placeholder 3">
            <a:extLst>
              <a:ext uri="{FF2B5EF4-FFF2-40B4-BE49-F238E27FC236}">
                <a16:creationId xmlns:a16="http://schemas.microsoft.com/office/drawing/2014/main" id="{8FF73A92-698B-9BE4-FD00-DF48575AB18B}"/>
              </a:ext>
            </a:extLst>
          </p:cNvPr>
          <p:cNvSpPr>
            <a:spLocks noGrp="1"/>
          </p:cNvSpPr>
          <p:nvPr>
            <p:ph type="ftr" sz="quarter" idx="11"/>
          </p:nvPr>
        </p:nvSpPr>
        <p:spPr/>
        <p:txBody>
          <a:bodyPr/>
          <a:lstStyle/>
          <a:p>
            <a:r>
              <a:rPr lang="en-US"/>
              <a:t>©FPT SOFTWARE - Corporate Training Center - Internal Use</a:t>
            </a:r>
          </a:p>
        </p:txBody>
      </p:sp>
      <p:sp>
        <p:nvSpPr>
          <p:cNvPr id="5" name="Slide Number Placeholder 4">
            <a:extLst>
              <a:ext uri="{FF2B5EF4-FFF2-40B4-BE49-F238E27FC236}">
                <a16:creationId xmlns:a16="http://schemas.microsoft.com/office/drawing/2014/main" id="{274553F4-C5A7-B168-E47D-9586A3B2424F}"/>
              </a:ext>
            </a:extLst>
          </p:cNvPr>
          <p:cNvSpPr>
            <a:spLocks noGrp="1"/>
          </p:cNvSpPr>
          <p:nvPr>
            <p:ph type="sldNum" sz="quarter" idx="12"/>
          </p:nvPr>
        </p:nvSpPr>
        <p:spPr/>
        <p:txBody>
          <a:bodyPr/>
          <a:lstStyle/>
          <a:p>
            <a:fld id="{E3B08AF7-4237-6949-8335-F63F47C2C8CC}" type="slidenum">
              <a:rPr lang="en-US" smtClean="0"/>
              <a:t>14</a:t>
            </a:fld>
            <a:endParaRPr lang="en-US"/>
          </a:p>
        </p:txBody>
      </p:sp>
    </p:spTree>
    <p:extLst>
      <p:ext uri="{BB962C8B-B14F-4D97-AF65-F5344CB8AC3E}">
        <p14:creationId xmlns:p14="http://schemas.microsoft.com/office/powerpoint/2010/main" val="1809657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Uboot</a:t>
            </a:r>
            <a:r>
              <a:rPr lang="en-US" dirty="0"/>
              <a:t> device tree</a:t>
            </a:r>
          </a:p>
        </p:txBody>
      </p:sp>
      <p:sp>
        <p:nvSpPr>
          <p:cNvPr id="3" name="Content Placeholder 2"/>
          <p:cNvSpPr>
            <a:spLocks noGrp="1"/>
          </p:cNvSpPr>
          <p:nvPr>
            <p:ph idx="1"/>
          </p:nvPr>
        </p:nvSpPr>
        <p:spPr/>
        <p:txBody>
          <a:bodyPr/>
          <a:lstStyle/>
          <a:p>
            <a:r>
              <a:rPr lang="en-US" dirty="0" err="1"/>
              <a:t>Uboot</a:t>
            </a:r>
            <a:r>
              <a:rPr lang="en-US" dirty="0"/>
              <a:t> cũng sử dụng device tree tương </a:t>
            </a:r>
            <a:r>
              <a:rPr lang="en-US" dirty="0" err="1"/>
              <a:t>tự</a:t>
            </a:r>
            <a:r>
              <a:rPr lang="en-US" dirty="0"/>
              <a:t> </a:t>
            </a:r>
            <a:r>
              <a:rPr lang="en-US" dirty="0" err="1"/>
              <a:t>như</a:t>
            </a:r>
            <a:r>
              <a:rPr lang="en-US" dirty="0"/>
              <a:t> kernel. Tuy </a:t>
            </a:r>
            <a:r>
              <a:rPr lang="en-US" dirty="0" err="1"/>
              <a:t>nhiên</a:t>
            </a:r>
            <a:r>
              <a:rPr lang="en-US" dirty="0"/>
              <a:t>, các </a:t>
            </a:r>
            <a:r>
              <a:rPr lang="en-US" dirty="0" err="1"/>
              <a:t>ngoại</a:t>
            </a:r>
            <a:r>
              <a:rPr lang="en-US" dirty="0"/>
              <a:t> vi cần sử dụng </a:t>
            </a:r>
            <a:r>
              <a:rPr lang="en-US" dirty="0" err="1"/>
              <a:t>trước</a:t>
            </a:r>
            <a:r>
              <a:rPr lang="en-US" dirty="0"/>
              <a:t> </a:t>
            </a:r>
            <a:r>
              <a:rPr lang="en-US" dirty="0" err="1"/>
              <a:t>khi</a:t>
            </a:r>
            <a:r>
              <a:rPr lang="en-US" dirty="0"/>
              <a:t> device tree được </a:t>
            </a:r>
            <a:r>
              <a:rPr lang="en-US" dirty="0" err="1"/>
              <a:t>khởi</a:t>
            </a:r>
            <a:r>
              <a:rPr lang="en-US" dirty="0"/>
              <a:t> </a:t>
            </a:r>
            <a:r>
              <a:rPr lang="en-US" dirty="0" err="1"/>
              <a:t>tạo</a:t>
            </a:r>
            <a:r>
              <a:rPr lang="en-US" dirty="0"/>
              <a:t> </a:t>
            </a:r>
            <a:r>
              <a:rPr lang="en-US" dirty="0" err="1"/>
              <a:t>thì</a:t>
            </a:r>
            <a:r>
              <a:rPr lang="en-US" dirty="0"/>
              <a:t> sẽ được hardcode về hardware.</a:t>
            </a:r>
          </a:p>
          <a:p>
            <a:r>
              <a:rPr lang="en-US" dirty="0"/>
              <a:t>Device tree trong </a:t>
            </a:r>
            <a:r>
              <a:rPr lang="en-US" dirty="0" err="1"/>
              <a:t>uboot</a:t>
            </a:r>
            <a:r>
              <a:rPr lang="en-US" dirty="0"/>
              <a:t> được </a:t>
            </a:r>
            <a:r>
              <a:rPr lang="en-US" dirty="0" err="1"/>
              <a:t>đính</a:t>
            </a:r>
            <a:r>
              <a:rPr lang="en-US" dirty="0"/>
              <a:t> </a:t>
            </a:r>
            <a:r>
              <a:rPr lang="en-US" dirty="0" err="1"/>
              <a:t>kèm</a:t>
            </a:r>
            <a:r>
              <a:rPr lang="en-US" dirty="0"/>
              <a:t> trong file </a:t>
            </a:r>
            <a:r>
              <a:rPr lang="en-US" dirty="0" err="1"/>
              <a:t>uboot.img</a:t>
            </a:r>
            <a:r>
              <a:rPr lang="en-US" dirty="0"/>
              <a:t> </a:t>
            </a:r>
            <a:r>
              <a:rPr lang="en-US" dirty="0" err="1"/>
              <a:t>chứ</a:t>
            </a:r>
            <a:r>
              <a:rPr lang="en-US" dirty="0"/>
              <a:t> không được build </a:t>
            </a:r>
            <a:r>
              <a:rPr lang="en-US" dirty="0" err="1"/>
              <a:t>riêng</a:t>
            </a:r>
            <a:r>
              <a:rPr lang="en-US" dirty="0"/>
              <a:t> </a:t>
            </a:r>
            <a:r>
              <a:rPr lang="en-US" dirty="0" err="1"/>
              <a:t>ra</a:t>
            </a:r>
            <a:r>
              <a:rPr lang="en-US" dirty="0"/>
              <a:t> file </a:t>
            </a:r>
            <a:r>
              <a:rPr lang="en-US" dirty="0" err="1"/>
              <a:t>dtb</a:t>
            </a:r>
            <a:r>
              <a:rPr lang="en-US" dirty="0"/>
              <a:t>.</a:t>
            </a:r>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15</a:t>
            </a:fld>
            <a:endParaRPr lang="en-US"/>
          </a:p>
        </p:txBody>
      </p:sp>
    </p:spTree>
    <p:extLst>
      <p:ext uri="{BB962C8B-B14F-4D97-AF65-F5344CB8AC3E}">
        <p14:creationId xmlns:p14="http://schemas.microsoft.com/office/powerpoint/2010/main" val="4278074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Uboot</a:t>
            </a:r>
            <a:r>
              <a:rPr lang="en-US" dirty="0"/>
              <a:t> driver</a:t>
            </a:r>
          </a:p>
        </p:txBody>
      </p:sp>
      <p:pic>
        <p:nvPicPr>
          <p:cNvPr id="6" name="Content Placeholder 5"/>
          <p:cNvPicPr>
            <a:picLocks noGrp="1" noChangeAspect="1"/>
          </p:cNvPicPr>
          <p:nvPr>
            <p:ph idx="1"/>
          </p:nvPr>
        </p:nvPicPr>
        <p:blipFill>
          <a:blip r:embed="rId2"/>
          <a:stretch>
            <a:fillRect/>
          </a:stretch>
        </p:blipFill>
        <p:spPr>
          <a:xfrm>
            <a:off x="1771650" y="1399381"/>
            <a:ext cx="5600700" cy="2667000"/>
          </a:xfrm>
          <a:prstGeom prst="rect">
            <a:avLst/>
          </a:prstGeom>
        </p:spPr>
      </p:pic>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16</a:t>
            </a:fld>
            <a:endParaRPr lang="en-US"/>
          </a:p>
        </p:txBody>
      </p:sp>
    </p:spTree>
    <p:extLst>
      <p:ext uri="{BB962C8B-B14F-4D97-AF65-F5344CB8AC3E}">
        <p14:creationId xmlns:p14="http://schemas.microsoft.com/office/powerpoint/2010/main" val="3258050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Uboot</a:t>
            </a:r>
            <a:r>
              <a:rPr lang="en-US" dirty="0"/>
              <a:t> command line</a:t>
            </a:r>
          </a:p>
        </p:txBody>
      </p:sp>
      <p:sp>
        <p:nvSpPr>
          <p:cNvPr id="3" name="Content Placeholder 2"/>
          <p:cNvSpPr>
            <a:spLocks noGrp="1"/>
          </p:cNvSpPr>
          <p:nvPr>
            <p:ph idx="1"/>
          </p:nvPr>
        </p:nvSpPr>
        <p:spPr/>
        <p:txBody>
          <a:bodyPr/>
          <a:lstStyle/>
          <a:p>
            <a:r>
              <a:rPr lang="en-US" dirty="0"/>
              <a:t>Command line trong </a:t>
            </a:r>
            <a:r>
              <a:rPr lang="en-US" dirty="0" err="1"/>
              <a:t>uboot</a:t>
            </a:r>
            <a:r>
              <a:rPr lang="en-US" dirty="0"/>
              <a:t> </a:t>
            </a:r>
            <a:r>
              <a:rPr lang="en-US" dirty="0" err="1"/>
              <a:t>giống</a:t>
            </a:r>
            <a:r>
              <a:rPr lang="en-US" dirty="0"/>
              <a:t> </a:t>
            </a:r>
            <a:r>
              <a:rPr lang="en-US" dirty="0" err="1"/>
              <a:t>như</a:t>
            </a:r>
            <a:r>
              <a:rPr lang="en-US" dirty="0"/>
              <a:t> </a:t>
            </a:r>
            <a:r>
              <a:rPr lang="en-US" dirty="0" err="1"/>
              <a:t>hệ</a:t>
            </a:r>
            <a:r>
              <a:rPr lang="en-US" dirty="0"/>
              <a:t> </a:t>
            </a:r>
            <a:r>
              <a:rPr lang="en-US" dirty="0" err="1"/>
              <a:t>thống</a:t>
            </a:r>
            <a:r>
              <a:rPr lang="en-US" dirty="0"/>
              <a:t> application trên Linux.</a:t>
            </a:r>
          </a:p>
          <a:p>
            <a:r>
              <a:rPr lang="en-US" dirty="0" err="1"/>
              <a:t>Toàn</a:t>
            </a:r>
            <a:r>
              <a:rPr lang="en-US" dirty="0"/>
              <a:t> </a:t>
            </a:r>
            <a:r>
              <a:rPr lang="en-US" dirty="0" err="1"/>
              <a:t>bộ</a:t>
            </a:r>
            <a:r>
              <a:rPr lang="en-US" dirty="0"/>
              <a:t> </a:t>
            </a:r>
            <a:r>
              <a:rPr lang="en-US" dirty="0" err="1"/>
              <a:t>quá</a:t>
            </a:r>
            <a:r>
              <a:rPr lang="en-US" dirty="0"/>
              <a:t> trình </a:t>
            </a:r>
            <a:r>
              <a:rPr lang="en-US" dirty="0" err="1"/>
              <a:t>hoạt</a:t>
            </a:r>
            <a:r>
              <a:rPr lang="en-US" dirty="0"/>
              <a:t> </a:t>
            </a:r>
            <a:r>
              <a:rPr lang="en-US" dirty="0" err="1"/>
              <a:t>động</a:t>
            </a:r>
            <a:r>
              <a:rPr lang="en-US" dirty="0"/>
              <a:t> sẽ </a:t>
            </a:r>
            <a:r>
              <a:rPr lang="en-US" dirty="0" err="1"/>
              <a:t>theo</a:t>
            </a:r>
            <a:r>
              <a:rPr lang="en-US" dirty="0"/>
              <a:t> 1 </a:t>
            </a:r>
            <a:r>
              <a:rPr lang="en-US" dirty="0" err="1"/>
              <a:t>luồng</a:t>
            </a:r>
            <a:r>
              <a:rPr lang="en-US" dirty="0"/>
              <a:t> </a:t>
            </a:r>
            <a:r>
              <a:rPr lang="en-US" dirty="0" err="1"/>
              <a:t>gọi</a:t>
            </a:r>
            <a:r>
              <a:rPr lang="en-US" dirty="0"/>
              <a:t> </a:t>
            </a:r>
            <a:r>
              <a:rPr lang="en-US" dirty="0" err="1"/>
              <a:t>giữa</a:t>
            </a:r>
            <a:r>
              <a:rPr lang="en-US" dirty="0"/>
              <a:t> các command line.</a:t>
            </a:r>
          </a:p>
          <a:p>
            <a:r>
              <a:rPr lang="en-US" dirty="0"/>
              <a:t>uEnv.txt</a:t>
            </a:r>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17</a:t>
            </a:fld>
            <a:endParaRPr lang="en-US"/>
          </a:p>
        </p:txBody>
      </p:sp>
    </p:spTree>
    <p:extLst>
      <p:ext uri="{BB962C8B-B14F-4D97-AF65-F5344CB8AC3E}">
        <p14:creationId xmlns:p14="http://schemas.microsoft.com/office/powerpoint/2010/main" val="2355692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stage boot loader</a:t>
            </a:r>
          </a:p>
        </p:txBody>
      </p:sp>
      <p:sp>
        <p:nvSpPr>
          <p:cNvPr id="3" name="Content Placeholder 2"/>
          <p:cNvSpPr>
            <a:spLocks noGrp="1"/>
          </p:cNvSpPr>
          <p:nvPr>
            <p:ph idx="1"/>
          </p:nvPr>
        </p:nvSpPr>
        <p:spPr/>
        <p:txBody>
          <a:bodyPr/>
          <a:lstStyle/>
          <a:p>
            <a:r>
              <a:rPr lang="en-US" dirty="0"/>
              <a:t>SPL/MLO file có thể được load thông qua </a:t>
            </a:r>
            <a:r>
              <a:rPr lang="en-US" dirty="0" err="1"/>
              <a:t>uart</a:t>
            </a:r>
            <a:r>
              <a:rPr lang="en-US" dirty="0"/>
              <a:t>, </a:t>
            </a:r>
            <a:r>
              <a:rPr lang="en-US" dirty="0" err="1"/>
              <a:t>sdcard</a:t>
            </a:r>
            <a:r>
              <a:rPr lang="en-US" dirty="0"/>
              <a:t> </a:t>
            </a:r>
            <a:r>
              <a:rPr lang="en-US" dirty="0" err="1"/>
              <a:t>hoặc</a:t>
            </a:r>
            <a:r>
              <a:rPr lang="en-US" dirty="0"/>
              <a:t> </a:t>
            </a:r>
            <a:r>
              <a:rPr lang="en-US" dirty="0" err="1"/>
              <a:t>eMMC</a:t>
            </a:r>
            <a:r>
              <a:rPr lang="en-US" dirty="0"/>
              <a:t>.</a:t>
            </a:r>
          </a:p>
          <a:p>
            <a:pPr lvl="1"/>
            <a:r>
              <a:rPr lang="en-US" dirty="0" err="1"/>
              <a:t>Khởi</a:t>
            </a:r>
            <a:r>
              <a:rPr lang="en-US" dirty="0"/>
              <a:t> </a:t>
            </a:r>
            <a:r>
              <a:rPr lang="en-US" dirty="0" err="1"/>
              <a:t>tạo</a:t>
            </a:r>
            <a:r>
              <a:rPr lang="en-US" dirty="0"/>
              <a:t> 1 </a:t>
            </a:r>
            <a:r>
              <a:rPr lang="en-US" dirty="0" err="1"/>
              <a:t>số</a:t>
            </a:r>
            <a:r>
              <a:rPr lang="en-US" dirty="0"/>
              <a:t> clock </a:t>
            </a:r>
            <a:r>
              <a:rPr lang="en-US" dirty="0" err="1"/>
              <a:t>quan</a:t>
            </a:r>
            <a:r>
              <a:rPr lang="en-US" dirty="0"/>
              <a:t> </a:t>
            </a:r>
            <a:r>
              <a:rPr lang="en-US" dirty="0" err="1"/>
              <a:t>trọng</a:t>
            </a:r>
            <a:r>
              <a:rPr lang="en-US" dirty="0"/>
              <a:t>, static ram, 1 </a:t>
            </a:r>
            <a:r>
              <a:rPr lang="en-US" dirty="0" err="1"/>
              <a:t>số</a:t>
            </a:r>
            <a:r>
              <a:rPr lang="en-US" dirty="0"/>
              <a:t> </a:t>
            </a:r>
            <a:r>
              <a:rPr lang="en-US" dirty="0" err="1"/>
              <a:t>ngoại</a:t>
            </a:r>
            <a:r>
              <a:rPr lang="en-US" dirty="0"/>
              <a:t> vi </a:t>
            </a:r>
            <a:r>
              <a:rPr lang="en-US" dirty="0" err="1"/>
              <a:t>như</a:t>
            </a:r>
            <a:r>
              <a:rPr lang="en-US" dirty="0"/>
              <a:t> serial…</a:t>
            </a:r>
          </a:p>
          <a:p>
            <a:pPr lvl="1"/>
            <a:r>
              <a:rPr lang="en-US" dirty="0"/>
              <a:t>Boot trap loader – </a:t>
            </a:r>
            <a:r>
              <a:rPr lang="en-US" dirty="0" err="1"/>
              <a:t>start.S</a:t>
            </a:r>
            <a:endParaRPr lang="en-US" dirty="0"/>
          </a:p>
          <a:p>
            <a:pPr lvl="1"/>
            <a:r>
              <a:rPr lang="en-US" dirty="0" err="1"/>
              <a:t>board_init_f</a:t>
            </a:r>
            <a:endParaRPr lang="en-US" dirty="0"/>
          </a:p>
          <a:p>
            <a:pPr lvl="1"/>
            <a:r>
              <a:rPr lang="en-US" dirty="0" err="1"/>
              <a:t>board_init_r</a:t>
            </a:r>
            <a:endParaRPr lang="en-US" dirty="0"/>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18</a:t>
            </a:fld>
            <a:endParaRPr lang="en-US"/>
          </a:p>
        </p:txBody>
      </p:sp>
    </p:spTree>
    <p:extLst>
      <p:ext uri="{BB962C8B-B14F-4D97-AF65-F5344CB8AC3E}">
        <p14:creationId xmlns:p14="http://schemas.microsoft.com/office/powerpoint/2010/main" val="1497218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stage boot loader</a:t>
            </a:r>
          </a:p>
        </p:txBody>
      </p:sp>
      <p:sp>
        <p:nvSpPr>
          <p:cNvPr id="3" name="Content Placeholder 2"/>
          <p:cNvSpPr>
            <a:spLocks noGrp="1"/>
          </p:cNvSpPr>
          <p:nvPr>
            <p:ph idx="1"/>
          </p:nvPr>
        </p:nvSpPr>
        <p:spPr/>
        <p:txBody>
          <a:bodyPr/>
          <a:lstStyle/>
          <a:p>
            <a:r>
              <a:rPr lang="en-US" dirty="0" err="1"/>
              <a:t>Khởi</a:t>
            </a:r>
            <a:r>
              <a:rPr lang="en-US" dirty="0"/>
              <a:t> </a:t>
            </a:r>
            <a:r>
              <a:rPr lang="en-US" dirty="0" err="1"/>
              <a:t>tạo</a:t>
            </a:r>
            <a:r>
              <a:rPr lang="en-US" dirty="0"/>
              <a:t> </a:t>
            </a:r>
            <a:r>
              <a:rPr lang="en-US" dirty="0" err="1"/>
              <a:t>tài</a:t>
            </a:r>
            <a:r>
              <a:rPr lang="en-US" dirty="0"/>
              <a:t> </a:t>
            </a:r>
            <a:r>
              <a:rPr lang="en-US" dirty="0" err="1"/>
              <a:t>nguyên</a:t>
            </a:r>
            <a:r>
              <a:rPr lang="en-US" dirty="0"/>
              <a:t> </a:t>
            </a:r>
            <a:r>
              <a:rPr lang="en-US" dirty="0" err="1"/>
              <a:t>hệ</a:t>
            </a:r>
            <a:r>
              <a:rPr lang="en-US" dirty="0"/>
              <a:t> </a:t>
            </a:r>
            <a:r>
              <a:rPr lang="en-US" dirty="0" err="1"/>
              <a:t>thống</a:t>
            </a:r>
            <a:r>
              <a:rPr lang="en-US" dirty="0"/>
              <a:t> để load kernel image.</a:t>
            </a:r>
          </a:p>
          <a:p>
            <a:pPr lvl="1"/>
            <a:r>
              <a:rPr lang="en-US" dirty="0"/>
              <a:t>Peripheral: Ethernet, </a:t>
            </a:r>
            <a:r>
              <a:rPr lang="en-US" dirty="0" err="1"/>
              <a:t>uart</a:t>
            </a:r>
            <a:r>
              <a:rPr lang="en-US" dirty="0"/>
              <a:t>, graphic, dram,…</a:t>
            </a:r>
          </a:p>
          <a:p>
            <a:pPr lvl="1"/>
            <a:r>
              <a:rPr lang="en-US" dirty="0" err="1"/>
              <a:t>Tài</a:t>
            </a:r>
            <a:r>
              <a:rPr lang="en-US" dirty="0"/>
              <a:t> </a:t>
            </a:r>
            <a:r>
              <a:rPr lang="en-US" dirty="0" err="1"/>
              <a:t>nguyên</a:t>
            </a:r>
            <a:r>
              <a:rPr lang="en-US" dirty="0"/>
              <a:t>: </a:t>
            </a:r>
            <a:r>
              <a:rPr lang="en-US" dirty="0" err="1"/>
              <a:t>malloc</a:t>
            </a:r>
            <a:r>
              <a:rPr lang="en-US" dirty="0"/>
              <a:t>, </a:t>
            </a:r>
            <a:r>
              <a:rPr lang="en-US" dirty="0" err="1"/>
              <a:t>stdio</a:t>
            </a:r>
            <a:r>
              <a:rPr lang="en-US" dirty="0"/>
              <a:t>, file system,…</a:t>
            </a:r>
          </a:p>
          <a:p>
            <a:pPr lvl="1"/>
            <a:r>
              <a:rPr lang="en-US" dirty="0" err="1"/>
              <a:t>board_init_f</a:t>
            </a:r>
            <a:endParaRPr lang="en-US" dirty="0"/>
          </a:p>
          <a:p>
            <a:pPr lvl="1"/>
            <a:r>
              <a:rPr lang="en-US" dirty="0" err="1"/>
              <a:t>board_init_r</a:t>
            </a:r>
            <a:endParaRPr lang="en-US" dirty="0"/>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19</a:t>
            </a:fld>
            <a:endParaRPr lang="en-US"/>
          </a:p>
        </p:txBody>
      </p:sp>
    </p:spTree>
    <p:extLst>
      <p:ext uri="{BB962C8B-B14F-4D97-AF65-F5344CB8AC3E}">
        <p14:creationId xmlns:p14="http://schemas.microsoft.com/office/powerpoint/2010/main" val="2007947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Luồng</a:t>
            </a:r>
            <a:r>
              <a:rPr lang="en-US" dirty="0"/>
              <a:t> </a:t>
            </a:r>
            <a:r>
              <a:rPr lang="en-US" dirty="0" err="1"/>
              <a:t>thực</a:t>
            </a:r>
            <a:r>
              <a:rPr lang="en-US" dirty="0"/>
              <a:t> </a:t>
            </a:r>
            <a:r>
              <a:rPr lang="en-US" dirty="0" err="1"/>
              <a:t>thi</a:t>
            </a:r>
            <a:r>
              <a:rPr lang="en-US" dirty="0"/>
              <a:t> của 1 command</a:t>
            </a:r>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20</a:t>
            </a:fld>
            <a:endParaRPr lang="en-US"/>
          </a:p>
        </p:txBody>
      </p:sp>
      <p:pic>
        <p:nvPicPr>
          <p:cNvPr id="20" name="Content Placeholder 19"/>
          <p:cNvPicPr>
            <a:picLocks noGrp="1"/>
          </p:cNvPicPr>
          <p:nvPr>
            <p:ph idx="1"/>
          </p:nvPr>
        </p:nvPicPr>
        <p:blipFill>
          <a:blip r:embed="rId2"/>
          <a:stretch>
            <a:fillRect/>
          </a:stretch>
        </p:blipFill>
        <p:spPr>
          <a:xfrm>
            <a:off x="1638300" y="1851819"/>
            <a:ext cx="5867400" cy="1762125"/>
          </a:xfrm>
          <a:prstGeom prst="rect">
            <a:avLst/>
          </a:prstGeom>
        </p:spPr>
      </p:pic>
    </p:spTree>
    <p:extLst>
      <p:ext uri="{BB962C8B-B14F-4D97-AF65-F5344CB8AC3E}">
        <p14:creationId xmlns:p14="http://schemas.microsoft.com/office/powerpoint/2010/main" val="337486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Quá</a:t>
            </a:r>
            <a:r>
              <a:rPr lang="en-US" dirty="0"/>
              <a:t> trình load Linux kernel</a:t>
            </a:r>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21</a:t>
            </a:fld>
            <a:endParaRPr lang="en-US"/>
          </a:p>
        </p:txBody>
      </p:sp>
      <p:sp>
        <p:nvSpPr>
          <p:cNvPr id="3" name="Content Placeholder 2"/>
          <p:cNvSpPr>
            <a:spLocks noGrp="1"/>
          </p:cNvSpPr>
          <p:nvPr>
            <p:ph idx="1"/>
          </p:nvPr>
        </p:nvSpPr>
        <p:spPr/>
        <p:txBody>
          <a:bodyPr/>
          <a:lstStyle/>
          <a:p>
            <a:r>
              <a:rPr lang="en-US" dirty="0" err="1"/>
              <a:t>Uboot</a:t>
            </a:r>
            <a:r>
              <a:rPr lang="en-US" dirty="0"/>
              <a:t> sẽ </a:t>
            </a:r>
            <a:r>
              <a:rPr lang="en-US" dirty="0" err="1"/>
              <a:t>thực</a:t>
            </a:r>
            <a:r>
              <a:rPr lang="en-US" dirty="0"/>
              <a:t> </a:t>
            </a:r>
            <a:r>
              <a:rPr lang="en-US" dirty="0" err="1"/>
              <a:t>thi</a:t>
            </a:r>
            <a:r>
              <a:rPr lang="en-US" dirty="0"/>
              <a:t> 1 </a:t>
            </a:r>
            <a:r>
              <a:rPr lang="en-US" dirty="0" err="1"/>
              <a:t>loạt</a:t>
            </a:r>
            <a:r>
              <a:rPr lang="en-US" dirty="0"/>
              <a:t> các </a:t>
            </a:r>
            <a:r>
              <a:rPr lang="en-US" dirty="0" err="1"/>
              <a:t>câu</a:t>
            </a:r>
            <a:r>
              <a:rPr lang="en-US" dirty="0"/>
              <a:t> </a:t>
            </a:r>
            <a:r>
              <a:rPr lang="en-US" dirty="0" err="1"/>
              <a:t>lệnh</a:t>
            </a:r>
            <a:r>
              <a:rPr lang="en-US" dirty="0"/>
              <a:t> </a:t>
            </a:r>
            <a:r>
              <a:rPr lang="en-US" dirty="0" err="1"/>
              <a:t>bao</a:t>
            </a:r>
            <a:r>
              <a:rPr lang="en-US" dirty="0"/>
              <a:t> </a:t>
            </a:r>
            <a:r>
              <a:rPr lang="en-US" dirty="0" err="1"/>
              <a:t>gồm</a:t>
            </a:r>
            <a:r>
              <a:rPr lang="en-US" dirty="0"/>
              <a:t>:</a:t>
            </a:r>
          </a:p>
          <a:p>
            <a:pPr lvl="1"/>
            <a:r>
              <a:rPr lang="en-US" dirty="0"/>
              <a:t>Setup environment.</a:t>
            </a:r>
          </a:p>
          <a:p>
            <a:pPr lvl="1"/>
            <a:r>
              <a:rPr lang="en-US" dirty="0"/>
              <a:t>Load kernel image từ flash </a:t>
            </a:r>
            <a:r>
              <a:rPr lang="en-US" dirty="0" err="1"/>
              <a:t>vào</a:t>
            </a:r>
            <a:r>
              <a:rPr lang="en-US" dirty="0"/>
              <a:t> ram.</a:t>
            </a:r>
          </a:p>
          <a:p>
            <a:pPr lvl="1"/>
            <a:r>
              <a:rPr lang="en-US" dirty="0"/>
              <a:t>Jump để boot trap loader của Linux kernel (</a:t>
            </a:r>
            <a:r>
              <a:rPr lang="en-US" dirty="0" err="1"/>
              <a:t>kernel_entry</a:t>
            </a:r>
            <a:r>
              <a:rPr lang="en-US" dirty="0"/>
              <a:t> call </a:t>
            </a:r>
            <a:r>
              <a:rPr lang="en-US" dirty="0" err="1"/>
              <a:t>head.S</a:t>
            </a:r>
            <a:r>
              <a:rPr lang="en-US" dirty="0"/>
              <a:t>)</a:t>
            </a:r>
          </a:p>
          <a:p>
            <a:pPr lvl="1"/>
            <a:r>
              <a:rPr lang="en-US" dirty="0"/>
              <a:t>Kernel parameter???</a:t>
            </a:r>
          </a:p>
        </p:txBody>
      </p:sp>
    </p:spTree>
    <p:extLst>
      <p:ext uri="{BB962C8B-B14F-4D97-AF65-F5344CB8AC3E}">
        <p14:creationId xmlns:p14="http://schemas.microsoft.com/office/powerpoint/2010/main" val="1599224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Bài tập</a:t>
            </a:r>
          </a:p>
        </p:txBody>
      </p:sp>
      <p:sp>
        <p:nvSpPr>
          <p:cNvPr id="3" name="Content Placeholder 2"/>
          <p:cNvSpPr>
            <a:spLocks noGrp="1"/>
          </p:cNvSpPr>
          <p:nvPr>
            <p:ph idx="1"/>
          </p:nvPr>
        </p:nvSpPr>
        <p:spPr/>
        <p:txBody>
          <a:bodyPr/>
          <a:lstStyle/>
          <a:p>
            <a:r>
              <a:rPr lang="en-US" dirty="0" err="1"/>
              <a:t>Chỉnh</a:t>
            </a:r>
            <a:r>
              <a:rPr lang="en-US" dirty="0"/>
              <a:t> </a:t>
            </a:r>
            <a:r>
              <a:rPr lang="en-US" dirty="0" err="1"/>
              <a:t>sửa</a:t>
            </a:r>
            <a:r>
              <a:rPr lang="en-US" dirty="0"/>
              <a:t> wait time trong </a:t>
            </a:r>
            <a:r>
              <a:rPr lang="en-US" dirty="0" err="1"/>
              <a:t>uboot</a:t>
            </a:r>
            <a:r>
              <a:rPr lang="en-US" dirty="0"/>
              <a:t> từ 3s </a:t>
            </a:r>
            <a:r>
              <a:rPr lang="en-US" dirty="0" err="1"/>
              <a:t>thành</a:t>
            </a:r>
            <a:r>
              <a:rPr lang="en-US" dirty="0"/>
              <a:t> 30s.</a:t>
            </a:r>
          </a:p>
          <a:p>
            <a:r>
              <a:rPr lang="en-US" dirty="0" err="1"/>
              <a:t>Chỉnh</a:t>
            </a:r>
            <a:r>
              <a:rPr lang="en-US" dirty="0"/>
              <a:t> </a:t>
            </a:r>
            <a:r>
              <a:rPr lang="en-US" dirty="0" err="1"/>
              <a:t>sửa</a:t>
            </a:r>
            <a:r>
              <a:rPr lang="en-US" dirty="0"/>
              <a:t> </a:t>
            </a:r>
            <a:r>
              <a:rPr lang="en-US" dirty="0" err="1"/>
              <a:t>tên</a:t>
            </a:r>
            <a:r>
              <a:rPr lang="en-US" dirty="0"/>
              <a:t> </a:t>
            </a:r>
            <a:r>
              <a:rPr lang="en-US"/>
              <a:t>file uEnv.txt.</a:t>
            </a:r>
          </a:p>
        </p:txBody>
      </p:sp>
      <p:sp>
        <p:nvSpPr>
          <p:cNvPr id="4" name="Footer Placeholder 3"/>
          <p:cNvSpPr>
            <a:spLocks noGrp="1"/>
          </p:cNvSpPr>
          <p:nvPr>
            <p:ph type="ftr" sz="quarter" idx="11"/>
          </p:nvPr>
        </p:nvSpPr>
        <p:spPr/>
        <p:txBody>
          <a:bodyPr/>
          <a:lstStyle/>
          <a:p>
            <a:r>
              <a:rPr lang="en-US"/>
              <a:t>©FPT SOFTWARE - Corporate Training Center - Internal Use</a:t>
            </a:r>
          </a:p>
        </p:txBody>
      </p:sp>
      <p:sp>
        <p:nvSpPr>
          <p:cNvPr id="5" name="Slide Number Placeholder 4"/>
          <p:cNvSpPr>
            <a:spLocks noGrp="1"/>
          </p:cNvSpPr>
          <p:nvPr>
            <p:ph type="sldNum" sz="quarter" idx="12"/>
          </p:nvPr>
        </p:nvSpPr>
        <p:spPr/>
        <p:txBody>
          <a:bodyPr/>
          <a:lstStyle/>
          <a:p>
            <a:fld id="{E3B08AF7-4237-6949-8335-F63F47C2C8CC}" type="slidenum">
              <a:rPr lang="en-US" smtClean="0"/>
              <a:t>22</a:t>
            </a:fld>
            <a:endParaRPr lang="en-US"/>
          </a:p>
        </p:txBody>
      </p:sp>
    </p:spTree>
    <p:extLst>
      <p:ext uri="{BB962C8B-B14F-4D97-AF65-F5344CB8AC3E}">
        <p14:creationId xmlns:p14="http://schemas.microsoft.com/office/powerpoint/2010/main" val="2105783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1960" y="2082799"/>
            <a:ext cx="5115560" cy="678021"/>
          </a:xfrm>
        </p:spPr>
        <p:txBody>
          <a:bodyPr>
            <a:noAutofit/>
          </a:bodyPr>
          <a:lstStyle/>
          <a:p>
            <a:r>
              <a:rPr lang="en-US" sz="6600" dirty="0">
                <a:solidFill>
                  <a:schemeClr val="accent6">
                    <a:lumMod val="75000"/>
                  </a:schemeClr>
                </a:solidFill>
                <a:cs typeface="Arial"/>
              </a:rPr>
              <a:t>Thank you</a:t>
            </a:r>
          </a:p>
        </p:txBody>
      </p:sp>
      <p:sp>
        <p:nvSpPr>
          <p:cNvPr id="4" name="Footer Placeholder 3"/>
          <p:cNvSpPr>
            <a:spLocks noGrp="1"/>
          </p:cNvSpPr>
          <p:nvPr>
            <p:ph type="ftr" sz="quarter" idx="11"/>
          </p:nvPr>
        </p:nvSpPr>
        <p:spPr/>
        <p:txBody>
          <a:bodyPr/>
          <a:lstStyle/>
          <a:p>
            <a:r>
              <a:rPr lang="en-US"/>
              <a:t>©FPT SOFTWARE - Corporate Training Center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23</a:t>
            </a:fld>
            <a:endParaRPr lang="en-US" dirty="0"/>
          </a:p>
        </p:txBody>
      </p:sp>
    </p:spTree>
    <p:extLst>
      <p:ext uri="{BB962C8B-B14F-4D97-AF65-F5344CB8AC3E}">
        <p14:creationId xmlns:p14="http://schemas.microsoft.com/office/powerpoint/2010/main" val="3906525621"/>
      </p:ext>
    </p:extLst>
  </p:cSld>
  <p:clrMapOvr>
    <a:masterClrMapping/>
  </p:clrMapOvr>
</p:sld>
</file>

<file path=ppt/theme/theme1.xml><?xml version="1.0" encoding="utf-8"?>
<a:theme xmlns:a="http://schemas.openxmlformats.org/drawingml/2006/main" name="Template_Internal_Cour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Template_Internal_Course</Template>
  <TotalTime>897</TotalTime>
  <Words>1194</Words>
  <Application>Microsoft Office PowerPoint</Application>
  <PresentationFormat>On-screen Show (16:9)</PresentationFormat>
  <Paragraphs>139</Paragraphs>
  <Slides>23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Template_Internal_Course</vt:lpstr>
      <vt:lpstr>Uboot source code</vt:lpstr>
      <vt:lpstr>Agenda</vt:lpstr>
      <vt:lpstr>First stage boot loader</vt:lpstr>
      <vt:lpstr>First stage boot loader</vt:lpstr>
      <vt:lpstr>SYSBOOT Configuration Pins </vt:lpstr>
      <vt:lpstr>Secure boot</vt:lpstr>
      <vt:lpstr>SYSBOOT Configuration Pins </vt:lpstr>
      <vt:lpstr>Quy định chân Pin khi boot</vt:lpstr>
      <vt:lpstr>Uboot</vt:lpstr>
      <vt:lpstr>Second stage boot loader</vt:lpstr>
      <vt:lpstr>Kiến trúc của uboot</vt:lpstr>
      <vt:lpstr>Kiến trúc của uboot</vt:lpstr>
      <vt:lpstr>PowerPoint Presentation</vt:lpstr>
      <vt:lpstr>Uboot source code</vt:lpstr>
      <vt:lpstr>Uboot device tree</vt:lpstr>
      <vt:lpstr>Uboot driver</vt:lpstr>
      <vt:lpstr>Uboot command line</vt:lpstr>
      <vt:lpstr>Second stage boot loader</vt:lpstr>
      <vt:lpstr>Third stage boot loader</vt:lpstr>
      <vt:lpstr>Luồng thực thi của 1 command</vt:lpstr>
      <vt:lpstr>Quá trình load Linux kernel</vt:lpstr>
      <vt:lpstr>Bài tập</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 Tuan Linh (FHO.FWA)</dc:creator>
  <cp:lastModifiedBy>Luu An Phu</cp:lastModifiedBy>
  <cp:revision>161</cp:revision>
  <dcterms:created xsi:type="dcterms:W3CDTF">2015-08-31T01:44:46Z</dcterms:created>
  <dcterms:modified xsi:type="dcterms:W3CDTF">2023-04-22T03:13:55Z</dcterms:modified>
</cp:coreProperties>
</file>